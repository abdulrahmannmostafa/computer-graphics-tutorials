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kzidenz-Grotesk" panose="020B0604020202020204" charset="0"/>
      <p:regular r:id="rId22"/>
    </p:embeddedFont>
    <p:embeddedFont>
      <p:font typeface="Akzidenz-Grotesk Bold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IBM Plex Mono" panose="020B0509050203000203" pitchFamily="49" charset="0"/>
      <p:regular r:id="rId28"/>
    </p:embeddedFont>
    <p:embeddedFont>
      <p:font typeface="IBM Plex Mono Bold" panose="020B0809050203000203" charset="0"/>
      <p:regular r:id="rId29"/>
    </p:embeddedFont>
    <p:embeddedFont>
      <p:font typeface="Open Sauce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727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12585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9443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26301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33159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40017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46875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53733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60591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67449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7430750" y="857250"/>
            <a:ext cx="0" cy="8572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572750" y="8572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0572750" y="15430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0572750" y="22288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0572750" y="29146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572750" y="36004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0572750" y="42862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0572750" y="49720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572750" y="56578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0572750" y="63436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0572750" y="70294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10572750" y="77152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0572750" y="84010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0572750" y="9086850"/>
            <a:ext cx="6858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1049000" y="8096250"/>
            <a:ext cx="323850" cy="323850"/>
            <a:chOff x="0" y="0"/>
            <a:chExt cx="431800" cy="431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734800" y="7410450"/>
            <a:ext cx="323850" cy="323850"/>
            <a:chOff x="0" y="0"/>
            <a:chExt cx="431800" cy="431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20600" y="7410450"/>
            <a:ext cx="323850" cy="323850"/>
            <a:chOff x="0" y="0"/>
            <a:chExt cx="431800" cy="431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106400" y="6724650"/>
            <a:ext cx="323850" cy="323850"/>
            <a:chOff x="0" y="0"/>
            <a:chExt cx="431800" cy="431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792200" y="6038850"/>
            <a:ext cx="323850" cy="323850"/>
            <a:chOff x="0" y="0"/>
            <a:chExt cx="431800" cy="431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478000" y="6038850"/>
            <a:ext cx="323850" cy="323850"/>
            <a:chOff x="0" y="0"/>
            <a:chExt cx="431800" cy="431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163800" y="5353050"/>
            <a:ext cx="323850" cy="323850"/>
            <a:chOff x="0" y="0"/>
            <a:chExt cx="431800" cy="431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849600" y="4667250"/>
            <a:ext cx="323850" cy="323850"/>
            <a:chOff x="0" y="0"/>
            <a:chExt cx="431800" cy="431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535400" y="4667250"/>
            <a:ext cx="323850" cy="323850"/>
            <a:chOff x="0" y="0"/>
            <a:chExt cx="431800" cy="431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FFCF66"/>
            </a:solidFill>
            <a:ln cap="sq">
              <a:noFill/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3" name="AutoShape 53"/>
          <p:cNvSpPr/>
          <p:nvPr/>
        </p:nvSpPr>
        <p:spPr>
          <a:xfrm flipV="1">
            <a:off x="11096625" y="4476750"/>
            <a:ext cx="5762625" cy="3810000"/>
          </a:xfrm>
          <a:prstGeom prst="line">
            <a:avLst/>
          </a:prstGeom>
          <a:ln w="47625" cap="rnd">
            <a:solidFill>
              <a:srgbClr val="67D9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TextBox 54"/>
          <p:cNvSpPr txBox="1"/>
          <p:nvPr/>
        </p:nvSpPr>
        <p:spPr>
          <a:xfrm>
            <a:off x="914400" y="2095500"/>
            <a:ext cx="9906000" cy="22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84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Points, Lines</a:t>
            </a:r>
          </a:p>
          <a:p>
            <a:pPr algn="l">
              <a:lnSpc>
                <a:spcPts val="8232"/>
              </a:lnSpc>
            </a:pPr>
            <a:r>
              <a:rPr lang="en-US" sz="84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&amp; Bresenham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14604" y="5693752"/>
            <a:ext cx="5410194" cy="463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sz="2803" dirty="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Classroom’s Code: </a:t>
            </a:r>
            <a:r>
              <a:rPr lang="en-US" sz="2803" b="1" dirty="0" err="1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uxelbcdu</a:t>
            </a:r>
            <a:endParaRPr lang="en-US" sz="2803" b="1" dirty="0">
              <a:solidFill>
                <a:srgbClr val="F4F8FB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A3DE0B-4200-A18C-8304-3CE22C9C271D}"/>
              </a:ext>
            </a:extLst>
          </p:cNvPr>
          <p:cNvSpPr txBox="1"/>
          <p:nvPr/>
        </p:nvSpPr>
        <p:spPr>
          <a:xfrm>
            <a:off x="3983567" y="8004663"/>
            <a:ext cx="1362604" cy="50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sz="2803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Week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123950"/>
            <a:ext cx="95250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Agenda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400" y="2838450"/>
            <a:ext cx="6858000" cy="19050"/>
            <a:chOff x="0" y="0"/>
            <a:chExt cx="9144000" cy="25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3829050"/>
            <a:ext cx="6858000" cy="19050"/>
            <a:chOff x="0" y="0"/>
            <a:chExt cx="9144000" cy="25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4819650"/>
            <a:ext cx="6858000" cy="19050"/>
            <a:chOff x="0" y="0"/>
            <a:chExt cx="9144000" cy="25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5810250"/>
            <a:ext cx="6858000" cy="19050"/>
            <a:chOff x="0" y="0"/>
            <a:chExt cx="9144000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6800850"/>
            <a:ext cx="6858000" cy="19050"/>
            <a:chOff x="0" y="0"/>
            <a:chExt cx="9144000" cy="25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7791450"/>
            <a:ext cx="6858000" cy="19050"/>
            <a:chOff x="0" y="0"/>
            <a:chExt cx="9144000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8782050"/>
            <a:ext cx="6858000" cy="19050"/>
            <a:chOff x="0" y="0"/>
            <a:chExt cx="9144000" cy="25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01150" y="2838450"/>
            <a:ext cx="6858000" cy="19050"/>
            <a:chOff x="0" y="0"/>
            <a:chExt cx="9144000" cy="2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01150" y="3829050"/>
            <a:ext cx="6858000" cy="19050"/>
            <a:chOff x="0" y="0"/>
            <a:chExt cx="9144000" cy="25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01150" y="4819650"/>
            <a:ext cx="6858000" cy="19050"/>
            <a:chOff x="0" y="0"/>
            <a:chExt cx="9144000" cy="25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201150" y="5810250"/>
            <a:ext cx="6858000" cy="19050"/>
            <a:chOff x="0" y="0"/>
            <a:chExt cx="9144000" cy="25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201150" y="6800850"/>
            <a:ext cx="6858000" cy="19050"/>
            <a:chOff x="0" y="0"/>
            <a:chExt cx="9144000" cy="25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201150" y="7791450"/>
            <a:ext cx="6858000" cy="19050"/>
            <a:chOff x="0" y="0"/>
            <a:chExt cx="9144000" cy="25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0" y="0"/>
                  </a:moveTo>
                  <a:lnTo>
                    <a:pt x="9144000" y="0"/>
                  </a:lnTo>
                  <a:lnTo>
                    <a:pt x="91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1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14400" y="23431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33550" y="22955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OpenGL origins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4400" y="33337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33550" y="32861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GLU, GLEW, GLUT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4400" y="43243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733550" y="42767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Other graphics packages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4400" y="53149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33550" y="52673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GLUT project setup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4400" y="63055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733550" y="62579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main() skeleton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4400" y="72961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33550" y="72485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init2D() coordinates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14400" y="82867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733550" y="82391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display(): points + lines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201150" y="23431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020300" y="22955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Line equation + slope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201150" y="33337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20300" y="32861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DDA algorithm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201150" y="43243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020300" y="42767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Derive decision parameter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201150" y="53149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020300" y="52673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Final Bresenham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201150" y="63055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020300" y="62579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Worked example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201150" y="7296150"/>
            <a:ext cx="6667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020300" y="7248525"/>
            <a:ext cx="61912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Lab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219200"/>
            <a:ext cx="6286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What’s OpenGL?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7900" y="7529446"/>
            <a:ext cx="8713077" cy="240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2731" lvl="1" indent="-256366" algn="l">
              <a:lnSpc>
                <a:spcPts val="3206"/>
              </a:lnSpc>
              <a:buFont typeface="Arial"/>
              <a:buChar char="•"/>
            </a:pPr>
            <a:r>
              <a:rPr lang="en-US" sz="2374">
                <a:solidFill>
                  <a:srgbClr val="F4F8FB"/>
                </a:solidFill>
                <a:latin typeface="Open Sauce"/>
                <a:ea typeface="Open Sauce"/>
                <a:cs typeface="Open Sauce"/>
                <a:sym typeface="Open Sauce"/>
              </a:rPr>
              <a:t>Cross-platform, language-independent, and built for 2D/3D vector graphics</a:t>
            </a:r>
          </a:p>
          <a:p>
            <a:pPr algn="l">
              <a:lnSpc>
                <a:spcPts val="3206"/>
              </a:lnSpc>
            </a:pPr>
            <a:endParaRPr lang="en-US" sz="2374">
              <a:solidFill>
                <a:srgbClr val="F4F8FB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2731" lvl="1" indent="-256366" algn="l">
              <a:lnSpc>
                <a:spcPts val="3206"/>
              </a:lnSpc>
              <a:buFont typeface="Arial"/>
              <a:buChar char="•"/>
            </a:pPr>
            <a:r>
              <a:rPr lang="en-US" sz="2374">
                <a:solidFill>
                  <a:srgbClr val="F4F8FB"/>
                </a:solidFill>
                <a:latin typeface="Open Sauce"/>
                <a:ea typeface="Open Sauce"/>
                <a:cs typeface="Open Sauce"/>
                <a:sym typeface="Open Sauce"/>
              </a:rPr>
              <a:t>Released publicly in 1992 by Silicon Graphics; now an open standard maintained by Khronos and implemented by GPU vendors.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572563" y="2606040"/>
            <a:ext cx="3048000" cy="1428750"/>
            <a:chOff x="0" y="0"/>
            <a:chExt cx="4064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000" cy="1905000"/>
            </a:xfrm>
            <a:custGeom>
              <a:avLst/>
              <a:gdLst/>
              <a:ahLst/>
              <a:cxnLst/>
              <a:rect l="l" t="t" r="r" b="b"/>
              <a:pathLst>
                <a:path w="4064000" h="1905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849438"/>
                  </a:lnTo>
                  <a:cubicBezTo>
                    <a:pt x="4064000" y="1880124"/>
                    <a:pt x="4039124" y="1905000"/>
                    <a:pt x="4008438" y="1905000"/>
                  </a:cubicBezTo>
                  <a:lnTo>
                    <a:pt x="55562" y="1905000"/>
                  </a:lnTo>
                  <a:cubicBezTo>
                    <a:pt x="24876" y="1905000"/>
                    <a:pt x="0" y="1880124"/>
                    <a:pt x="0" y="1849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52B43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064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APPLICATION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8620563" y="3320415"/>
            <a:ext cx="1047750" cy="0"/>
          </a:xfrm>
          <a:prstGeom prst="line">
            <a:avLst/>
          </a:prstGeom>
          <a:ln w="47625" cap="rnd">
            <a:solidFill>
              <a:srgbClr val="20F2C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668313" y="2606040"/>
            <a:ext cx="3048000" cy="1428750"/>
            <a:chOff x="0" y="0"/>
            <a:chExt cx="4064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0" cy="1905000"/>
            </a:xfrm>
            <a:custGeom>
              <a:avLst/>
              <a:gdLst/>
              <a:ahLst/>
              <a:cxnLst/>
              <a:rect l="l" t="t" r="r" b="b"/>
              <a:pathLst>
                <a:path w="4064000" h="1905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849438"/>
                  </a:lnTo>
                  <a:cubicBezTo>
                    <a:pt x="4064000" y="1880124"/>
                    <a:pt x="4039124" y="1905000"/>
                    <a:pt x="4008438" y="1905000"/>
                  </a:cubicBezTo>
                  <a:lnTo>
                    <a:pt x="55562" y="1905000"/>
                  </a:lnTo>
                  <a:cubicBezTo>
                    <a:pt x="24876" y="1905000"/>
                    <a:pt x="0" y="1880124"/>
                    <a:pt x="0" y="1849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24B4B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OPENGL API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7096563" y="4034790"/>
            <a:ext cx="4095750" cy="2143125"/>
          </a:xfrm>
          <a:prstGeom prst="line">
            <a:avLst/>
          </a:prstGeom>
          <a:ln w="47625" cap="rnd">
            <a:solidFill>
              <a:srgbClr val="20F2C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5572563" y="5463540"/>
            <a:ext cx="3048000" cy="1428750"/>
            <a:chOff x="0" y="0"/>
            <a:chExt cx="4064000" cy="190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00" cy="1905000"/>
            </a:xfrm>
            <a:custGeom>
              <a:avLst/>
              <a:gdLst/>
              <a:ahLst/>
              <a:cxnLst/>
              <a:rect l="l" t="t" r="r" b="b"/>
              <a:pathLst>
                <a:path w="4064000" h="1905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849438"/>
                  </a:lnTo>
                  <a:cubicBezTo>
                    <a:pt x="4064000" y="1880124"/>
                    <a:pt x="4039124" y="1905000"/>
                    <a:pt x="4008438" y="1905000"/>
                  </a:cubicBezTo>
                  <a:lnTo>
                    <a:pt x="55562" y="1905000"/>
                  </a:lnTo>
                  <a:cubicBezTo>
                    <a:pt x="24876" y="1905000"/>
                    <a:pt x="0" y="1880124"/>
                    <a:pt x="0" y="1849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52B43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64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DRIVER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8620563" y="6177915"/>
            <a:ext cx="1047750" cy="0"/>
          </a:xfrm>
          <a:prstGeom prst="line">
            <a:avLst/>
          </a:prstGeom>
          <a:ln w="47625" cap="rnd">
            <a:solidFill>
              <a:srgbClr val="20F2C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9668313" y="5463540"/>
            <a:ext cx="3048000" cy="1428750"/>
            <a:chOff x="0" y="0"/>
            <a:chExt cx="4064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64000" cy="1905000"/>
            </a:xfrm>
            <a:custGeom>
              <a:avLst/>
              <a:gdLst/>
              <a:ahLst/>
              <a:cxnLst/>
              <a:rect l="l" t="t" r="r" b="b"/>
              <a:pathLst>
                <a:path w="4064000" h="1905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849438"/>
                  </a:lnTo>
                  <a:cubicBezTo>
                    <a:pt x="4064000" y="1880124"/>
                    <a:pt x="4039124" y="1905000"/>
                    <a:pt x="4008438" y="1905000"/>
                  </a:cubicBezTo>
                  <a:lnTo>
                    <a:pt x="55562" y="1905000"/>
                  </a:lnTo>
                  <a:cubicBezTo>
                    <a:pt x="24876" y="1905000"/>
                    <a:pt x="0" y="1880124"/>
                    <a:pt x="0" y="1849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52B43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064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GPU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171575"/>
            <a:ext cx="114300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OpenGL doesn’t work alone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2857500"/>
            <a:ext cx="4953000" cy="4378801"/>
            <a:chOff x="0" y="0"/>
            <a:chExt cx="6604000" cy="583840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604000" cy="5838402"/>
              <a:chOff x="0" y="0"/>
              <a:chExt cx="6604000" cy="583840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04000" cy="5838402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838402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838402"/>
                    </a:lnTo>
                    <a:lnTo>
                      <a:pt x="0" y="5838402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604000" cy="58765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82600" y="558800"/>
              <a:ext cx="5588000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>
                  <a:solidFill>
                    <a:srgbClr val="67D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GLU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2600" y="1946275"/>
              <a:ext cx="5461000" cy="225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F4F8FB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Provides utility/helper functions that make certain OpenGL tasks easier. It doesn't replace OpenGL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91275" y="2857500"/>
            <a:ext cx="4953000" cy="4361868"/>
            <a:chOff x="0" y="0"/>
            <a:chExt cx="6604000" cy="581582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604000" cy="5815824"/>
              <a:chOff x="0" y="0"/>
              <a:chExt cx="6604000" cy="581582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0" cy="5815824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815824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815824"/>
                    </a:lnTo>
                    <a:lnTo>
                      <a:pt x="0" y="5815824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604000" cy="5853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82600" y="558800"/>
              <a:ext cx="5588000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>
                  <a:solidFill>
                    <a:srgbClr val="67D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GLEW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600" y="1946275"/>
              <a:ext cx="5461000" cy="225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F4F8FB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It mainly helps your program access OpenGL functions that are available through the graphics driver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68150" y="2857500"/>
            <a:ext cx="4953000" cy="4374568"/>
            <a:chOff x="0" y="0"/>
            <a:chExt cx="6604000" cy="583275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604000" cy="5832757"/>
              <a:chOff x="0" y="0"/>
              <a:chExt cx="6604000" cy="583275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04000" cy="5832757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832757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832757"/>
                    </a:lnTo>
                    <a:lnTo>
                      <a:pt x="0" y="5832757"/>
                    </a:lnTo>
                    <a:close/>
                  </a:path>
                </a:pathLst>
              </a:custGeom>
              <a:solidFill>
                <a:srgbClr val="124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604000" cy="58708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82600" y="558800"/>
              <a:ext cx="5588000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>
                  <a:solidFill>
                    <a:srgbClr val="20F2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GLUT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2600" y="1946275"/>
              <a:ext cx="5461000" cy="337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F4F8FB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provides the application/window-related functionality around OpenGL: creating windows, handling keyboard/mouse input, managing the event loop, etc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171575"/>
            <a:ext cx="1285875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Different APIs, different trade-offs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3028950"/>
            <a:ext cx="16192500" cy="781050"/>
            <a:chOff x="0" y="0"/>
            <a:chExt cx="21590000" cy="1041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90000" cy="1041400"/>
            </a:xfrm>
            <a:custGeom>
              <a:avLst/>
              <a:gdLst/>
              <a:ahLst/>
              <a:cxnLst/>
              <a:rect l="l" t="t" r="r" b="b"/>
              <a:pathLst>
                <a:path w="21590000" h="1041400">
                  <a:moveTo>
                    <a:pt x="0" y="0"/>
                  </a:moveTo>
                  <a:lnTo>
                    <a:pt x="21590000" y="0"/>
                  </a:lnTo>
                  <a:lnTo>
                    <a:pt x="2159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90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4057650"/>
            <a:ext cx="16192500" cy="781050"/>
            <a:chOff x="0" y="0"/>
            <a:chExt cx="21590000" cy="1041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90000" cy="1041400"/>
            </a:xfrm>
            <a:custGeom>
              <a:avLst/>
              <a:gdLst/>
              <a:ahLst/>
              <a:cxnLst/>
              <a:rect l="l" t="t" r="r" b="b"/>
              <a:pathLst>
                <a:path w="21590000" h="1041400">
                  <a:moveTo>
                    <a:pt x="0" y="0"/>
                  </a:moveTo>
                  <a:lnTo>
                    <a:pt x="21590000" y="0"/>
                  </a:lnTo>
                  <a:lnTo>
                    <a:pt x="2159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90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7750" y="5086350"/>
            <a:ext cx="16192500" cy="781050"/>
            <a:chOff x="0" y="0"/>
            <a:chExt cx="21590000" cy="1041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590000" cy="1041400"/>
            </a:xfrm>
            <a:custGeom>
              <a:avLst/>
              <a:gdLst/>
              <a:ahLst/>
              <a:cxnLst/>
              <a:rect l="l" t="t" r="r" b="b"/>
              <a:pathLst>
                <a:path w="21590000" h="1041400">
                  <a:moveTo>
                    <a:pt x="0" y="0"/>
                  </a:moveTo>
                  <a:lnTo>
                    <a:pt x="21590000" y="0"/>
                  </a:lnTo>
                  <a:lnTo>
                    <a:pt x="2159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590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7750" y="6115050"/>
            <a:ext cx="16192500" cy="781050"/>
            <a:chOff x="0" y="0"/>
            <a:chExt cx="21590000" cy="1041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90000" cy="1041400"/>
            </a:xfrm>
            <a:custGeom>
              <a:avLst/>
              <a:gdLst/>
              <a:ahLst/>
              <a:cxnLst/>
              <a:rect l="l" t="t" r="r" b="b"/>
              <a:pathLst>
                <a:path w="21590000" h="1041400">
                  <a:moveTo>
                    <a:pt x="0" y="0"/>
                  </a:moveTo>
                  <a:lnTo>
                    <a:pt x="21590000" y="0"/>
                  </a:lnTo>
                  <a:lnTo>
                    <a:pt x="2159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90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7750" y="7143750"/>
            <a:ext cx="16192500" cy="781050"/>
            <a:chOff x="0" y="0"/>
            <a:chExt cx="21590000" cy="1041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590000" cy="1041400"/>
            </a:xfrm>
            <a:custGeom>
              <a:avLst/>
              <a:gdLst/>
              <a:ahLst/>
              <a:cxnLst/>
              <a:rect l="l" t="t" r="r" b="b"/>
              <a:pathLst>
                <a:path w="21590000" h="1041400">
                  <a:moveTo>
                    <a:pt x="0" y="0"/>
                  </a:moveTo>
                  <a:lnTo>
                    <a:pt x="21590000" y="0"/>
                  </a:lnTo>
                  <a:lnTo>
                    <a:pt x="2159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5900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38250" y="2543175"/>
            <a:ext cx="15240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PACKAGE                 REACH                     SWEET SPOT                 LEVEL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1125" y="3200400"/>
            <a:ext cx="15240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DirectX           Windows-centric         Games / media           MID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1125" y="4229100"/>
            <a:ext cx="15240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0F2C2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Vulkan            Cross-platform          Maximum control         LOW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1125" y="5257800"/>
            <a:ext cx="15240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Metal             Apple platforms         Native graphics         LOW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1125" y="6286500"/>
            <a:ext cx="15240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SDL / SFML        Cross-platform          Windows + input         HIGH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1125" y="7315200"/>
            <a:ext cx="1524000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Qt                Cross-platform          GUI applications        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571750"/>
            <a:ext cx="7239000" cy="4762500"/>
            <a:chOff x="0" y="0"/>
            <a:chExt cx="9652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52000" cy="6350000"/>
            </a:xfrm>
            <a:custGeom>
              <a:avLst/>
              <a:gdLst/>
              <a:ahLst/>
              <a:cxnLst/>
              <a:rect l="l" t="t" r="r" b="b"/>
              <a:pathLst>
                <a:path w="9652000" h="6350000">
                  <a:moveTo>
                    <a:pt x="0" y="0"/>
                  </a:moveTo>
                  <a:lnTo>
                    <a:pt x="9652000" y="0"/>
                  </a:lnTo>
                  <a:lnTo>
                    <a:pt x="9652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652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0" y="2571750"/>
            <a:ext cx="8477250" cy="1714500"/>
            <a:chOff x="0" y="0"/>
            <a:chExt cx="11303000" cy="228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03000" cy="2286000"/>
            </a:xfrm>
            <a:custGeom>
              <a:avLst/>
              <a:gdLst/>
              <a:ahLst/>
              <a:cxnLst/>
              <a:rect l="l" t="t" r="r" b="b"/>
              <a:pathLst>
                <a:path w="11303000" h="2286000">
                  <a:moveTo>
                    <a:pt x="0" y="0"/>
                  </a:moveTo>
                  <a:lnTo>
                    <a:pt x="11303000" y="0"/>
                  </a:lnTo>
                  <a:lnTo>
                    <a:pt x="11303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303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58250" y="4762500"/>
            <a:ext cx="8477250" cy="1714500"/>
            <a:chOff x="0" y="0"/>
            <a:chExt cx="11303000" cy="228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03000" cy="2286000"/>
            </a:xfrm>
            <a:custGeom>
              <a:avLst/>
              <a:gdLst/>
              <a:ahLst/>
              <a:cxnLst/>
              <a:rect l="l" t="t" r="r" b="b"/>
              <a:pathLst>
                <a:path w="11303000" h="2286000">
                  <a:moveTo>
                    <a:pt x="0" y="0"/>
                  </a:moveTo>
                  <a:lnTo>
                    <a:pt x="11303000" y="0"/>
                  </a:lnTo>
                  <a:lnTo>
                    <a:pt x="11303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303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14400" y="1123950"/>
            <a:ext cx="114300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Install. Include. Link. Run.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2962275"/>
            <a:ext cx="6477000" cy="959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#include &lt;GL/gl.h&gt;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#include &lt;GL/glu.h&gt;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#include &lt;GL/glut.h&gt;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34500" y="3295650"/>
            <a:ext cx="7239000" cy="31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$ g++ main.cpp -lglut -lGLU -lGL -o main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34500" y="5391150"/>
            <a:ext cx="6985000" cy="63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&gt;$ g++ main.cpp -lfreeglut -lglu32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-lopengl32 -o main.exe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38375"/>
            <a:ext cx="10287000" cy="6858000"/>
            <a:chOff x="0" y="0"/>
            <a:chExt cx="13716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9144000"/>
            </a:xfrm>
            <a:custGeom>
              <a:avLst/>
              <a:gdLst/>
              <a:ahLst/>
              <a:cxnLst/>
              <a:rect l="l" t="t" r="r" b="b"/>
              <a:pathLst>
                <a:path w="13716000" h="9144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16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0477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event loop starts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533650"/>
            <a:ext cx="9525000" cy="549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main(int argc, char** argv)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glutInit(&amp;argc, argv);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glutInitDisplayMode(GLUT_RGB | GLUT_DOUBLE);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glutInitWindowSize(700, 700);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glutInitWindowPosition(100,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glutCreateWindow("Line Lab");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init2D(0.0, 0.0, 0.5);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glutDisplayFunc(display);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glutMainLoop();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03871" y="4142610"/>
            <a:ext cx="6667556" cy="4554334"/>
            <a:chOff x="0" y="0"/>
            <a:chExt cx="1041199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1199" cy="711200"/>
            </a:xfrm>
            <a:custGeom>
              <a:avLst/>
              <a:gdLst/>
              <a:ahLst/>
              <a:cxnLst/>
              <a:rect l="l" t="t" r="r" b="b"/>
              <a:pathLst>
                <a:path w="1041199" h="711200">
                  <a:moveTo>
                    <a:pt x="679407" y="0"/>
                  </a:moveTo>
                  <a:lnTo>
                    <a:pt x="361764" y="0"/>
                  </a:lnTo>
                  <a:cubicBezTo>
                    <a:pt x="161952" y="0"/>
                    <a:pt x="0" y="123512"/>
                    <a:pt x="0" y="275871"/>
                  </a:cubicBezTo>
                  <a:cubicBezTo>
                    <a:pt x="0" y="386169"/>
                    <a:pt x="84903" y="481310"/>
                    <a:pt x="207569" y="525451"/>
                  </a:cubicBezTo>
                  <a:lnTo>
                    <a:pt x="207569" y="711200"/>
                  </a:lnTo>
                  <a:lnTo>
                    <a:pt x="453274" y="551732"/>
                  </a:lnTo>
                  <a:lnTo>
                    <a:pt x="679407" y="551732"/>
                  </a:lnTo>
                  <a:cubicBezTo>
                    <a:pt x="879232" y="551732"/>
                    <a:pt x="1041199" y="428220"/>
                    <a:pt x="1041199" y="275861"/>
                  </a:cubicBezTo>
                  <a:cubicBezTo>
                    <a:pt x="1041210" y="123512"/>
                    <a:pt x="879232" y="0"/>
                    <a:pt x="679407" y="0"/>
                  </a:cubicBezTo>
                  <a:close/>
                </a:path>
              </a:pathLst>
            </a:custGeom>
            <a:solidFill>
              <a:srgbClr val="20364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41199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6"/>
                </a:lnSpc>
              </a:pPr>
              <a:endParaRPr dirty="0"/>
            </a:p>
            <a:p>
              <a:pPr algn="ctr">
                <a:lnSpc>
                  <a:spcPts val="2556"/>
                </a:lnSpc>
              </a:pPr>
              <a:r>
                <a:rPr lang="en-US" sz="1800" dirty="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GLUT, get yourself ready to create and manage my OpenGL application</a:t>
              </a:r>
            </a:p>
            <a:p>
              <a:pPr algn="ctr">
                <a:lnSpc>
                  <a:spcPts val="2556"/>
                </a:lnSpc>
              </a:pPr>
              <a:endParaRPr lang="en-US" sz="1800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ctr">
                <a:lnSpc>
                  <a:spcPts val="2556"/>
                </a:lnSpc>
              </a:pPr>
              <a:r>
                <a:rPr lang="en-US" sz="1800" dirty="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and access the CMD-line‘s arguments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5461282" y="2822837"/>
            <a:ext cx="5160616" cy="1179835"/>
          </a:xfrm>
          <a:custGeom>
            <a:avLst/>
            <a:gdLst/>
            <a:ahLst/>
            <a:cxnLst/>
            <a:rect l="l" t="t" r="r" b="b"/>
            <a:pathLst>
              <a:path w="5160616" h="1179835">
                <a:moveTo>
                  <a:pt x="0" y="262979"/>
                </a:moveTo>
                <a:quadBezTo>
                  <a:pt x="2807439" y="-557021"/>
                  <a:pt x="5160616" y="1179835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38375"/>
            <a:ext cx="10287000" cy="6858000"/>
            <a:chOff x="0" y="0"/>
            <a:chExt cx="13716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9144000"/>
            </a:xfrm>
            <a:custGeom>
              <a:avLst/>
              <a:gdLst/>
              <a:ahLst/>
              <a:cxnLst/>
              <a:rect l="l" t="t" r="r" b="b"/>
              <a:pathLst>
                <a:path w="13716000" h="9144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16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0477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event loop starts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533650"/>
            <a:ext cx="9525000" cy="549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main(int argc, char** argv)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glutInit(&amp;argc, argv);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glutInitDisplayMode(GLUT_RGB | GLUT_DOUBLE);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glutInitWindowSize(700, 700);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glutInitWindowPosition(100,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glutCreateWindow("Line Lab");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init2D(0.0, 0.0, 0.5);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glutDisplayFunc(display);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glutMainLoop();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03871" y="4142610"/>
            <a:ext cx="6667556" cy="4554334"/>
            <a:chOff x="0" y="0"/>
            <a:chExt cx="1041199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1199" cy="711200"/>
            </a:xfrm>
            <a:custGeom>
              <a:avLst/>
              <a:gdLst/>
              <a:ahLst/>
              <a:cxnLst/>
              <a:rect l="l" t="t" r="r" b="b"/>
              <a:pathLst>
                <a:path w="1041199" h="711200">
                  <a:moveTo>
                    <a:pt x="679407" y="0"/>
                  </a:moveTo>
                  <a:lnTo>
                    <a:pt x="361764" y="0"/>
                  </a:lnTo>
                  <a:cubicBezTo>
                    <a:pt x="161952" y="0"/>
                    <a:pt x="0" y="123512"/>
                    <a:pt x="0" y="275871"/>
                  </a:cubicBezTo>
                  <a:cubicBezTo>
                    <a:pt x="0" y="386169"/>
                    <a:pt x="84903" y="481310"/>
                    <a:pt x="207569" y="525451"/>
                  </a:cubicBezTo>
                  <a:lnTo>
                    <a:pt x="207569" y="711200"/>
                  </a:lnTo>
                  <a:lnTo>
                    <a:pt x="453274" y="551732"/>
                  </a:lnTo>
                  <a:lnTo>
                    <a:pt x="679407" y="551732"/>
                  </a:lnTo>
                  <a:cubicBezTo>
                    <a:pt x="879232" y="551732"/>
                    <a:pt x="1041199" y="428220"/>
                    <a:pt x="1041199" y="275861"/>
                  </a:cubicBezTo>
                  <a:cubicBezTo>
                    <a:pt x="1041210" y="123512"/>
                    <a:pt x="879232" y="0"/>
                    <a:pt x="679407" y="0"/>
                  </a:cubicBezTo>
                  <a:close/>
                </a:path>
              </a:pathLst>
            </a:custGeom>
            <a:solidFill>
              <a:srgbClr val="20364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41199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 want RGB colors, and I want two buffers so I can draw one frame (Front Buffer) while the other (Back Buffer) is being displayed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772400" y="3124073"/>
            <a:ext cx="2849498" cy="878599"/>
          </a:xfrm>
          <a:custGeom>
            <a:avLst/>
            <a:gdLst/>
            <a:ahLst/>
            <a:cxnLst/>
            <a:rect l="l" t="t" r="r" b="b"/>
            <a:pathLst>
              <a:path w="2849498" h="878599">
                <a:moveTo>
                  <a:pt x="0" y="442001"/>
                </a:moveTo>
                <a:quadBezTo>
                  <a:pt x="1621401" y="-623170"/>
                  <a:pt x="2849498" y="878599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38375"/>
            <a:ext cx="10287000" cy="6858000"/>
            <a:chOff x="0" y="0"/>
            <a:chExt cx="13716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9144000"/>
            </a:xfrm>
            <a:custGeom>
              <a:avLst/>
              <a:gdLst/>
              <a:ahLst/>
              <a:cxnLst/>
              <a:rect l="l" t="t" r="r" b="b"/>
              <a:pathLst>
                <a:path w="13716000" h="9144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16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0477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event loop starts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533650"/>
            <a:ext cx="9525000" cy="549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main(int argc, char** argv)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glutInit(&amp;argc, argv);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glutInitDisplayMode(GLUT_RGB | GLUT_DOUBLE);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glutInitWindowSize(700, 700);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glutInitWindowPosition(100,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glutCreateWindow("Line Lab");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init2D(0.0, 0.0, 0.5);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glutDisplayFunc(display);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glutMainLoop();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03871" y="4142610"/>
            <a:ext cx="6667556" cy="4554334"/>
            <a:chOff x="0" y="0"/>
            <a:chExt cx="1041199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1199" cy="711200"/>
            </a:xfrm>
            <a:custGeom>
              <a:avLst/>
              <a:gdLst/>
              <a:ahLst/>
              <a:cxnLst/>
              <a:rect l="l" t="t" r="r" b="b"/>
              <a:pathLst>
                <a:path w="1041199" h="711200">
                  <a:moveTo>
                    <a:pt x="679407" y="0"/>
                  </a:moveTo>
                  <a:lnTo>
                    <a:pt x="361764" y="0"/>
                  </a:lnTo>
                  <a:cubicBezTo>
                    <a:pt x="161952" y="0"/>
                    <a:pt x="0" y="123512"/>
                    <a:pt x="0" y="275871"/>
                  </a:cubicBezTo>
                  <a:cubicBezTo>
                    <a:pt x="0" y="386169"/>
                    <a:pt x="84903" y="481310"/>
                    <a:pt x="207569" y="525451"/>
                  </a:cubicBezTo>
                  <a:lnTo>
                    <a:pt x="207569" y="711200"/>
                  </a:lnTo>
                  <a:lnTo>
                    <a:pt x="453274" y="551732"/>
                  </a:lnTo>
                  <a:lnTo>
                    <a:pt x="679407" y="551732"/>
                  </a:lnTo>
                  <a:cubicBezTo>
                    <a:pt x="879232" y="551732"/>
                    <a:pt x="1041199" y="428220"/>
                    <a:pt x="1041199" y="275861"/>
                  </a:cubicBezTo>
                  <a:cubicBezTo>
                    <a:pt x="1041210" y="123512"/>
                    <a:pt x="879232" y="0"/>
                    <a:pt x="679407" y="0"/>
                  </a:cubicBezTo>
                  <a:close/>
                </a:path>
              </a:pathLst>
            </a:custGeom>
            <a:solidFill>
              <a:srgbClr val="20364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41199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Initialise a window to be of 700 x 700</a:t>
              </a:r>
            </a:p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 width and height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6000750" y="4439270"/>
            <a:ext cx="2923984" cy="1281712"/>
          </a:xfrm>
          <a:custGeom>
            <a:avLst/>
            <a:gdLst/>
            <a:ahLst/>
            <a:cxnLst/>
            <a:rect l="l" t="t" r="r" b="b"/>
            <a:pathLst>
              <a:path w="2923984" h="1281712">
                <a:moveTo>
                  <a:pt x="0" y="0"/>
                </a:moveTo>
                <a:quadBezTo>
                  <a:pt x="1672321" y="1534582"/>
                  <a:pt x="2923984" y="1231824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38375"/>
            <a:ext cx="10287000" cy="6858000"/>
            <a:chOff x="0" y="0"/>
            <a:chExt cx="13716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9144000"/>
            </a:xfrm>
            <a:custGeom>
              <a:avLst/>
              <a:gdLst/>
              <a:ahLst/>
              <a:cxnLst/>
              <a:rect l="l" t="t" r="r" b="b"/>
              <a:pathLst>
                <a:path w="13716000" h="9144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16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0477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event loop starts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533650"/>
            <a:ext cx="9525000" cy="549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main(int argc, char** argv)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glutInit(&amp;argc, argv);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glutInitDisplayMode(GLUT_RGB | GLUT_DOUBLE);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glutInitWindowSize(700, 700);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glutInitWindowPosition(100,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glutCreateWindow("Line Lab");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init2D(0.0, 0.0, 0.5);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glutDisplayFunc(display);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glutMainLoop();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03871" y="4142610"/>
            <a:ext cx="6667556" cy="4554334"/>
            <a:chOff x="0" y="0"/>
            <a:chExt cx="1041199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1199" cy="711200"/>
            </a:xfrm>
            <a:custGeom>
              <a:avLst/>
              <a:gdLst/>
              <a:ahLst/>
              <a:cxnLst/>
              <a:rect l="l" t="t" r="r" b="b"/>
              <a:pathLst>
                <a:path w="1041199" h="711200">
                  <a:moveTo>
                    <a:pt x="679407" y="0"/>
                  </a:moveTo>
                  <a:lnTo>
                    <a:pt x="361764" y="0"/>
                  </a:lnTo>
                  <a:cubicBezTo>
                    <a:pt x="161952" y="0"/>
                    <a:pt x="0" y="123512"/>
                    <a:pt x="0" y="275871"/>
                  </a:cubicBezTo>
                  <a:cubicBezTo>
                    <a:pt x="0" y="386169"/>
                    <a:pt x="84903" y="481310"/>
                    <a:pt x="207569" y="525451"/>
                  </a:cubicBezTo>
                  <a:lnTo>
                    <a:pt x="207569" y="711200"/>
                  </a:lnTo>
                  <a:lnTo>
                    <a:pt x="453274" y="551732"/>
                  </a:lnTo>
                  <a:lnTo>
                    <a:pt x="679407" y="551732"/>
                  </a:lnTo>
                  <a:cubicBezTo>
                    <a:pt x="879232" y="551732"/>
                    <a:pt x="1041199" y="428220"/>
                    <a:pt x="1041199" y="275861"/>
                  </a:cubicBezTo>
                  <a:cubicBezTo>
                    <a:pt x="1041210" y="123512"/>
                    <a:pt x="879232" y="0"/>
                    <a:pt x="679407" y="0"/>
                  </a:cubicBezTo>
                  <a:close/>
                </a:path>
              </a:pathLst>
            </a:custGeom>
            <a:solidFill>
              <a:srgbClr val="20364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41199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Start the top-left corner of the window at (100,100)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6350028" y="5143500"/>
            <a:ext cx="2574706" cy="725632"/>
          </a:xfrm>
          <a:custGeom>
            <a:avLst/>
            <a:gdLst/>
            <a:ahLst/>
            <a:cxnLst/>
            <a:rect l="l" t="t" r="r" b="b"/>
            <a:pathLst>
              <a:path w="2574706" h="725632">
                <a:moveTo>
                  <a:pt x="0" y="0"/>
                </a:moveTo>
                <a:quadBezTo>
                  <a:pt x="1580506" y="1104715"/>
                  <a:pt x="2574706" y="527594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38375"/>
            <a:ext cx="10287000" cy="6858000"/>
            <a:chOff x="0" y="0"/>
            <a:chExt cx="13716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9144000"/>
            </a:xfrm>
            <a:custGeom>
              <a:avLst/>
              <a:gdLst/>
              <a:ahLst/>
              <a:cxnLst/>
              <a:rect l="l" t="t" r="r" b="b"/>
              <a:pathLst>
                <a:path w="13716000" h="9144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16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0477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event loop starts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533650"/>
            <a:ext cx="9525000" cy="549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main(int argc, char** argv)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glutInit(&amp;argc, argv);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glutInitDisplayMode(GLUT_RGB | GLUT_DOUBLE);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glutInitWindowSize(700, 700);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glutInitWindowPosition(100,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glutCreateWindow("Line Lab");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init2D(0.0, 0.0, 0.5);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glutDisplayFunc(display);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glutMainLoop();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03871" y="4142610"/>
            <a:ext cx="6667556" cy="4554334"/>
            <a:chOff x="0" y="0"/>
            <a:chExt cx="1041199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1199" cy="711200"/>
            </a:xfrm>
            <a:custGeom>
              <a:avLst/>
              <a:gdLst/>
              <a:ahLst/>
              <a:cxnLst/>
              <a:rect l="l" t="t" r="r" b="b"/>
              <a:pathLst>
                <a:path w="1041199" h="711200">
                  <a:moveTo>
                    <a:pt x="679407" y="0"/>
                  </a:moveTo>
                  <a:lnTo>
                    <a:pt x="361764" y="0"/>
                  </a:lnTo>
                  <a:cubicBezTo>
                    <a:pt x="161952" y="0"/>
                    <a:pt x="0" y="123512"/>
                    <a:pt x="0" y="275871"/>
                  </a:cubicBezTo>
                  <a:cubicBezTo>
                    <a:pt x="0" y="386169"/>
                    <a:pt x="84903" y="481310"/>
                    <a:pt x="207569" y="525451"/>
                  </a:cubicBezTo>
                  <a:lnTo>
                    <a:pt x="207569" y="711200"/>
                  </a:lnTo>
                  <a:lnTo>
                    <a:pt x="453274" y="551732"/>
                  </a:lnTo>
                  <a:lnTo>
                    <a:pt x="679407" y="551732"/>
                  </a:lnTo>
                  <a:cubicBezTo>
                    <a:pt x="879232" y="551732"/>
                    <a:pt x="1041199" y="428220"/>
                    <a:pt x="1041199" y="275861"/>
                  </a:cubicBezTo>
                  <a:cubicBezTo>
                    <a:pt x="1041210" y="123512"/>
                    <a:pt x="879232" y="0"/>
                    <a:pt x="679407" y="0"/>
                  </a:cubicBezTo>
                  <a:close/>
                </a:path>
              </a:pathLst>
            </a:custGeom>
            <a:solidFill>
              <a:srgbClr val="20364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41199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GLUT creates the window and probes it with a title</a:t>
              </a:r>
            </a:p>
            <a:p>
              <a:pPr algn="ctr">
                <a:lnSpc>
                  <a:spcPts val="2556"/>
                </a:lnSpc>
              </a:pPr>
              <a:endParaRPr lang="en-US" sz="18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GLUT makes for any window a context (environment) combined for any window to deal with its own states  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6000750" y="5671094"/>
            <a:ext cx="2923984" cy="467685"/>
          </a:xfrm>
          <a:custGeom>
            <a:avLst/>
            <a:gdLst/>
            <a:ahLst/>
            <a:cxnLst/>
            <a:rect l="l" t="t" r="r" b="b"/>
            <a:pathLst>
              <a:path w="2923984" h="467685">
                <a:moveTo>
                  <a:pt x="0" y="192793"/>
                </a:moveTo>
                <a:quadBezTo>
                  <a:pt x="2019631" y="826241"/>
                  <a:pt x="2923984" y="0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38375"/>
            <a:ext cx="10287000" cy="6858000"/>
            <a:chOff x="0" y="0"/>
            <a:chExt cx="13716000" cy="91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9144000"/>
            </a:xfrm>
            <a:custGeom>
              <a:avLst/>
              <a:gdLst/>
              <a:ahLst/>
              <a:cxnLst/>
              <a:rect l="l" t="t" r="r" b="b"/>
              <a:pathLst>
                <a:path w="13716000" h="9144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16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0477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event loop starts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533650"/>
            <a:ext cx="9525000" cy="549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main(int argc, char** argv)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glutInit(&amp;argc, argv);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glutInitDisplayMode(GLUT_RGB | GLUT_DOUBLE);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glutInitWindowSize(700, 700);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glutInitWindowPosition(100,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glutCreateWindow("Line Lab");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init2D(0.0, 0.0, 0.5);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glutDisplayFunc(display);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glutMainLoop();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2382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76212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228600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280987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33337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385762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438150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490537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4292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595312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47700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700087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75247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238250" y="257175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238250" y="3095625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1238250" y="361950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238250" y="4143375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38250" y="466725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1238250" y="5191125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238250" y="571500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107632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1128712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181100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233487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28587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1338262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>
            <a:off x="1390650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>
            <a:off x="1443037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>
            <a:off x="149542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1547812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600200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>
            <a:off x="16525875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>
            <a:off x="17049750" y="2571750"/>
            <a:ext cx="0" cy="36195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41"/>
          <p:cNvSpPr/>
          <p:nvPr/>
        </p:nvSpPr>
        <p:spPr>
          <a:xfrm>
            <a:off x="10763250" y="257175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>
            <a:off x="10763250" y="3095625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>
            <a:off x="10763250" y="361950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10763250" y="4143375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>
            <a:off x="10763250" y="466725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>
            <a:off x="10763250" y="5191125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>
            <a:off x="10763250" y="5715000"/>
            <a:ext cx="6286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4257675" y="4210050"/>
            <a:ext cx="247650" cy="247650"/>
            <a:chOff x="0" y="0"/>
            <a:chExt cx="330200" cy="330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FCF66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782675" y="4210050"/>
            <a:ext cx="247650" cy="247650"/>
            <a:chOff x="0" y="0"/>
            <a:chExt cx="330200" cy="330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914400" y="1123950"/>
            <a:ext cx="1285875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window. Two coordinate spaces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14500" y="2905125"/>
            <a:ext cx="5334000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4F8F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WINDOW PIXELS</a:t>
            </a:r>
          </a:p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4F8F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700 × 700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39500" y="2905125"/>
            <a:ext cx="5334000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LOGICAL SPACE</a:t>
            </a:r>
          </a:p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100 × 100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324475" y="6819900"/>
            <a:ext cx="8572500" cy="1308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dirty="0" err="1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glClearColor</a:t>
            </a: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(0.0, 0.0, 0.5, 1.0);</a:t>
            </a:r>
          </a:p>
          <a:p>
            <a:pPr algn="l">
              <a:lnSpc>
                <a:spcPts val="2556"/>
              </a:lnSpc>
            </a:pPr>
            <a:r>
              <a:rPr lang="en-US" sz="1800" dirty="0" err="1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glMatrixMode</a:t>
            </a: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(GL_PROJECTION);</a:t>
            </a:r>
          </a:p>
          <a:p>
            <a:pPr algn="l">
              <a:lnSpc>
                <a:spcPts val="2556"/>
              </a:lnSpc>
            </a:pPr>
            <a:r>
              <a:rPr lang="en-US" sz="1800" dirty="0" err="1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glLoadIdentity</a:t>
            </a: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();</a:t>
            </a:r>
          </a:p>
          <a:p>
            <a:pPr algn="l">
              <a:lnSpc>
                <a:spcPts val="2556"/>
              </a:lnSpc>
            </a:pP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gluOrtho2D(0, 700, 0, 700);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1527679" y="6308644"/>
            <a:ext cx="5045821" cy="2835356"/>
            <a:chOff x="0" y="0"/>
            <a:chExt cx="1041199" cy="5850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41199" cy="585072"/>
            </a:xfrm>
            <a:custGeom>
              <a:avLst/>
              <a:gdLst/>
              <a:ahLst/>
              <a:cxnLst/>
              <a:rect l="l" t="t" r="r" b="b"/>
              <a:pathLst>
                <a:path w="1041199" h="585072">
                  <a:moveTo>
                    <a:pt x="679407" y="0"/>
                  </a:moveTo>
                  <a:lnTo>
                    <a:pt x="361764" y="0"/>
                  </a:lnTo>
                  <a:cubicBezTo>
                    <a:pt x="161952" y="0"/>
                    <a:pt x="0" y="101608"/>
                    <a:pt x="0" y="226946"/>
                  </a:cubicBezTo>
                  <a:cubicBezTo>
                    <a:pt x="0" y="317684"/>
                    <a:pt x="84903" y="395952"/>
                    <a:pt x="207569" y="432265"/>
                  </a:cubicBezTo>
                  <a:lnTo>
                    <a:pt x="207569" y="585072"/>
                  </a:lnTo>
                  <a:lnTo>
                    <a:pt x="453274" y="453885"/>
                  </a:lnTo>
                  <a:lnTo>
                    <a:pt x="679407" y="453885"/>
                  </a:lnTo>
                  <a:cubicBezTo>
                    <a:pt x="879232" y="453885"/>
                    <a:pt x="1041199" y="352277"/>
                    <a:pt x="1041199" y="226938"/>
                  </a:cubicBezTo>
                  <a:cubicBezTo>
                    <a:pt x="1041210" y="101608"/>
                    <a:pt x="879232" y="0"/>
                    <a:pt x="679407" y="0"/>
                  </a:cubicBezTo>
                  <a:close/>
                </a:path>
              </a:pathLst>
            </a:custGeom>
            <a:solidFill>
              <a:srgbClr val="20364D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6757"/>
              <a:ext cx="1041199" cy="435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 the projection matrix and set the coordinate system along the whole window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286000"/>
            <a:ext cx="8572500" cy="6667500"/>
            <a:chOff x="0" y="0"/>
            <a:chExt cx="11430000" cy="889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00" cy="8890000"/>
            </a:xfrm>
            <a:custGeom>
              <a:avLst/>
              <a:gdLst/>
              <a:ahLst/>
              <a:cxnLst/>
              <a:rect l="l" t="t" r="r" b="b"/>
              <a:pathLst>
                <a:path w="11430000" h="8890000">
                  <a:moveTo>
                    <a:pt x="0" y="0"/>
                  </a:moveTo>
                  <a:lnTo>
                    <a:pt x="11430000" y="0"/>
                  </a:lnTo>
                  <a:lnTo>
                    <a:pt x="1143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430000" cy="892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477500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039475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1601450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2163425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2725400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3287375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3849350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4411325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4973300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5535275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6097250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6659225" y="2333625"/>
            <a:ext cx="0" cy="56197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10477500" y="2333625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0477500" y="2895600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0477500" y="3457575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10477500" y="4019550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0477500" y="4581525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10477500" y="5143500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10477500" y="5705475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0477500" y="6267450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0477500" y="6829425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0477500" y="7391400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10477500" y="7953375"/>
            <a:ext cx="619125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 flipV="1">
            <a:off x="10763250" y="2571750"/>
            <a:ext cx="5619750" cy="5048250"/>
          </a:xfrm>
          <a:prstGeom prst="line">
            <a:avLst/>
          </a:prstGeom>
          <a:ln w="66675" cap="rnd">
            <a:solidFill>
              <a:srgbClr val="FF718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TextBox 35"/>
          <p:cNvSpPr txBox="1"/>
          <p:nvPr/>
        </p:nvSpPr>
        <p:spPr>
          <a:xfrm>
            <a:off x="914400" y="1123950"/>
            <a:ext cx="95250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Draw in the back buffer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1088" y="3742225"/>
            <a:ext cx="7715250" cy="322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void display()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glClear(GL_COLOR_BUFFER_BIT);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glColor3f(1.0, 0.0, 0.0);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glBegin(GL_LINES);  // or GL_POINTS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glVertex2i(0, 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glVertex2i(100, 100);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glEnd();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glutSwapBuffers();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glFlush();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715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2870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858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4300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001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5730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44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37160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4287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48590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5430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60020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6573500" y="2190750"/>
            <a:ext cx="0" cy="457200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9715500" y="21907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9715500" y="27622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9715500" y="33337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9715500" y="39052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9715500" y="44767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9715500" y="50482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9715500" y="56197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9715500" y="61912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9715500" y="6762750"/>
            <a:ext cx="72390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V="1">
            <a:off x="9906000" y="2714625"/>
            <a:ext cx="6762750" cy="3476625"/>
          </a:xfrm>
          <a:prstGeom prst="line">
            <a:avLst/>
          </a:prstGeom>
          <a:ln w="38100" cap="flat">
            <a:solidFill>
              <a:srgbClr val="67D9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9839325" y="5743575"/>
            <a:ext cx="323850" cy="323850"/>
            <a:chOff x="0" y="0"/>
            <a:chExt cx="431800" cy="431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15588" y="5690096"/>
            <a:ext cx="323850" cy="323850"/>
            <a:chOff x="0" y="0"/>
            <a:chExt cx="431800" cy="431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982325" y="5172075"/>
            <a:ext cx="323850" cy="323850"/>
            <a:chOff x="0" y="0"/>
            <a:chExt cx="431800" cy="431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529992" y="5147431"/>
            <a:ext cx="323850" cy="323850"/>
            <a:chOff x="0" y="0"/>
            <a:chExt cx="431800" cy="431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25325" y="4600575"/>
            <a:ext cx="323850" cy="323850"/>
            <a:chOff x="0" y="0"/>
            <a:chExt cx="431800" cy="431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696825" y="4548208"/>
            <a:ext cx="323850" cy="323850"/>
            <a:chOff x="0" y="0"/>
            <a:chExt cx="431800" cy="431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268325" y="4095750"/>
            <a:ext cx="323850" cy="323850"/>
            <a:chOff x="0" y="0"/>
            <a:chExt cx="431800" cy="431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834522" y="3997464"/>
            <a:ext cx="323850" cy="323850"/>
            <a:chOff x="0" y="0"/>
            <a:chExt cx="431800" cy="431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411325" y="3476625"/>
            <a:ext cx="323850" cy="323850"/>
            <a:chOff x="0" y="0"/>
            <a:chExt cx="431800" cy="431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553079" y="3015998"/>
            <a:ext cx="323850" cy="323850"/>
            <a:chOff x="0" y="0"/>
            <a:chExt cx="431800" cy="431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914400" y="1123950"/>
            <a:ext cx="133350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Continuous math BUT Discrete pixels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38250" y="2790825"/>
            <a:ext cx="7239000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y = m·x + c</a:t>
            </a:r>
          </a:p>
          <a:p>
            <a:pPr algn="l">
              <a:lnSpc>
                <a:spcPts val="4350"/>
              </a:lnSpc>
            </a:pPr>
            <a:endParaRPr lang="en-US" sz="3000" b="1">
              <a:solidFill>
                <a:srgbClr val="20F2C2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algn="l">
              <a:lnSpc>
                <a:spcPts val="4350"/>
              </a:lnSpc>
            </a:pPr>
            <a:r>
              <a:rPr lang="en-US" sz="300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 = Δy / Δx = (y₁−y₀) / (x₁−x₀)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38250" y="6124575"/>
            <a:ext cx="6858000" cy="105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8F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line is infinite and smooth. A display is a finite grid. Rasterization chooses the pixels that best approximate the ideal path.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572750" y="7296150"/>
            <a:ext cx="6191250" cy="97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TWO CLASSIC ANSWERS</a:t>
            </a:r>
          </a:p>
          <a:p>
            <a:pPr algn="l">
              <a:lnSpc>
                <a:spcPts val="2556"/>
              </a:lnSpc>
            </a:pP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DDA  -&gt;  floating point</a:t>
            </a:r>
          </a:p>
          <a:p>
            <a:pPr algn="l">
              <a:lnSpc>
                <a:spcPts val="2556"/>
              </a:lnSpc>
            </a:pPr>
            <a:r>
              <a:rPr lang="en-US" sz="1800" dirty="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BRESENHAM  -&gt;  integer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428875"/>
            <a:ext cx="7810500" cy="5810250"/>
            <a:chOff x="0" y="0"/>
            <a:chExt cx="10414000" cy="774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14000" cy="7747000"/>
            </a:xfrm>
            <a:custGeom>
              <a:avLst/>
              <a:gdLst/>
              <a:ahLst/>
              <a:cxnLst/>
              <a:rect l="l" t="t" r="r" b="b"/>
              <a:pathLst>
                <a:path w="10414000" h="7747000">
                  <a:moveTo>
                    <a:pt x="0" y="0"/>
                  </a:moveTo>
                  <a:lnTo>
                    <a:pt x="10414000" y="0"/>
                  </a:lnTo>
                  <a:lnTo>
                    <a:pt x="10414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414000" cy="778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2382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DDA follows the fastest axis.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2819400"/>
            <a:ext cx="7239000" cy="257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steps = max(abs(dx), abs(dy));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xInc = dx / steps;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yInc = dy / steps;</a:t>
            </a:r>
          </a:p>
          <a:p>
            <a:pPr algn="l">
              <a:lnSpc>
                <a:spcPts val="2556"/>
              </a:lnSpc>
            </a:pPr>
            <a:endParaRPr lang="en-US" sz="1800">
              <a:solidFill>
                <a:srgbClr val="F4F8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repeat steps times {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plot(round(x), round(y));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x += xInc;  y += yInc;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06000" y="2857500"/>
            <a:ext cx="3143250" cy="1809750"/>
            <a:chOff x="0" y="0"/>
            <a:chExt cx="4191000" cy="241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91000" cy="2413000"/>
            </a:xfrm>
            <a:custGeom>
              <a:avLst/>
              <a:gdLst/>
              <a:ahLst/>
              <a:cxnLst/>
              <a:rect l="l" t="t" r="r" b="b"/>
              <a:pathLst>
                <a:path w="4191000" h="2413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24B4B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 ≤ 1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positive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525500" y="2857500"/>
            <a:ext cx="3143250" cy="1809750"/>
            <a:chOff x="0" y="0"/>
            <a:chExt cx="4191000" cy="241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91000" cy="2413000"/>
            </a:xfrm>
            <a:custGeom>
              <a:avLst/>
              <a:gdLst/>
              <a:ahLst/>
              <a:cxnLst/>
              <a:rect l="l" t="t" r="r" b="b"/>
              <a:pathLst>
                <a:path w="4191000" h="2413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52B43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 ≤ 1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negative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906000" y="5334000"/>
            <a:ext cx="3143250" cy="1809750"/>
            <a:chOff x="0" y="0"/>
            <a:chExt cx="4191000" cy="241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91000" cy="2413000"/>
            </a:xfrm>
            <a:custGeom>
              <a:avLst/>
              <a:gdLst/>
              <a:ahLst/>
              <a:cxnLst/>
              <a:rect l="l" t="t" r="r" b="b"/>
              <a:pathLst>
                <a:path w="4191000" h="2413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24B4B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 &gt; 1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positive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525500" y="5334000"/>
            <a:ext cx="3143250" cy="1809750"/>
            <a:chOff x="0" y="0"/>
            <a:chExt cx="4191000" cy="2413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91000" cy="2413000"/>
            </a:xfrm>
            <a:custGeom>
              <a:avLst/>
              <a:gdLst/>
              <a:ahLst/>
              <a:cxnLst/>
              <a:rect l="l" t="t" r="r" b="b"/>
              <a:pathLst>
                <a:path w="4191000" h="2413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2359121"/>
                  </a:lnTo>
                  <a:cubicBezTo>
                    <a:pt x="4191000" y="2373411"/>
                    <a:pt x="4185324" y="2387115"/>
                    <a:pt x="4175219" y="2397219"/>
                  </a:cubicBezTo>
                  <a:cubicBezTo>
                    <a:pt x="4165115" y="2407324"/>
                    <a:pt x="4151411" y="2413000"/>
                    <a:pt x="4137121" y="2413000"/>
                  </a:cubicBezTo>
                  <a:lnTo>
                    <a:pt x="53879" y="2413000"/>
                  </a:lnTo>
                  <a:cubicBezTo>
                    <a:pt x="39589" y="2413000"/>
                    <a:pt x="25885" y="2407324"/>
                    <a:pt x="15781" y="2397219"/>
                  </a:cubicBezTo>
                  <a:cubicBezTo>
                    <a:pt x="5676" y="2387115"/>
                    <a:pt x="0" y="2373411"/>
                    <a:pt x="0" y="2359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52B43"/>
            </a:solidFill>
            <a:ln w="19050" cap="sq">
              <a:solidFill>
                <a:srgbClr val="20F2C2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191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 &gt; 1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4F8F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negative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476500"/>
            <a:ext cx="16383000" cy="3143250"/>
            <a:chOff x="0" y="0"/>
            <a:chExt cx="21844000" cy="419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44000" cy="4191000"/>
            </a:xfrm>
            <a:custGeom>
              <a:avLst/>
              <a:gdLst/>
              <a:ahLst/>
              <a:cxnLst/>
              <a:rect l="l" t="t" r="r" b="b"/>
              <a:pathLst>
                <a:path w="21844000" h="4191000">
                  <a:moveTo>
                    <a:pt x="0" y="0"/>
                  </a:moveTo>
                  <a:lnTo>
                    <a:pt x="21844000" y="0"/>
                  </a:lnTo>
                  <a:lnTo>
                    <a:pt x="21844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844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95500" y="6381750"/>
            <a:ext cx="14097000" cy="1238250"/>
            <a:chOff x="0" y="0"/>
            <a:chExt cx="18796000" cy="165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96000" cy="1651000"/>
            </a:xfrm>
            <a:custGeom>
              <a:avLst/>
              <a:gdLst/>
              <a:ahLst/>
              <a:cxnLst/>
              <a:rect l="l" t="t" r="r" b="b"/>
              <a:pathLst>
                <a:path w="18796000" h="1651000">
                  <a:moveTo>
                    <a:pt x="0" y="0"/>
                  </a:moveTo>
                  <a:lnTo>
                    <a:pt x="18796000" y="0"/>
                  </a:lnTo>
                  <a:lnTo>
                    <a:pt x="18796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124B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96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" y="1123950"/>
            <a:ext cx="12382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Turn distance into a decision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8250" y="2828925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  Candidates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8250" y="3390900"/>
            <a:ext cx="4953000" cy="63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E = (xₖ+1, yₖ)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NE = (xₖ+1, yₖ+1)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500" y="2828925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 Compare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0" y="3571875"/>
            <a:ext cx="476250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67D9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pₖ = Δx(d₁ − d₂)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01500" y="2828925"/>
            <a:ext cx="3143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 Initialize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01500" y="3571875"/>
            <a:ext cx="495300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p₀ = 2Δy − Δx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76500" y="6696075"/>
            <a:ext cx="1333500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F4F8F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pₖ₊₁ = pₖ + 2Δy − 2Δx(yₖ₊₁ − yₖ)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190750"/>
            <a:ext cx="9334500" cy="6191250"/>
            <a:chOff x="0" y="0"/>
            <a:chExt cx="12446000" cy="825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46000" cy="8255000"/>
            </a:xfrm>
            <a:custGeom>
              <a:avLst/>
              <a:gdLst/>
              <a:ahLst/>
              <a:cxnLst/>
              <a:rect l="l" t="t" r="r" b="b"/>
              <a:pathLst>
                <a:path w="12446000" h="8255000">
                  <a:moveTo>
                    <a:pt x="0" y="0"/>
                  </a:moveTo>
                  <a:lnTo>
                    <a:pt x="12446000" y="0"/>
                  </a:lnTo>
                  <a:lnTo>
                    <a:pt x="12446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446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58500" y="2667000"/>
            <a:ext cx="5524500" cy="1809750"/>
            <a:chOff x="0" y="0"/>
            <a:chExt cx="7366000" cy="241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66000" cy="2413000"/>
            </a:xfrm>
            <a:custGeom>
              <a:avLst/>
              <a:gdLst/>
              <a:ahLst/>
              <a:cxnLst/>
              <a:rect l="l" t="t" r="r" b="b"/>
              <a:pathLst>
                <a:path w="7366000" h="2413000">
                  <a:moveTo>
                    <a:pt x="0" y="0"/>
                  </a:moveTo>
                  <a:lnTo>
                    <a:pt x="7366000" y="0"/>
                  </a:lnTo>
                  <a:lnTo>
                    <a:pt x="7366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366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58500" y="4857750"/>
            <a:ext cx="5524500" cy="2095500"/>
            <a:chOff x="0" y="0"/>
            <a:chExt cx="7366000" cy="279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66000" cy="2794000"/>
            </a:xfrm>
            <a:custGeom>
              <a:avLst/>
              <a:gdLst/>
              <a:ahLst/>
              <a:cxnLst/>
              <a:rect l="l" t="t" r="r" b="b"/>
              <a:pathLst>
                <a:path w="7366000" h="2794000">
                  <a:moveTo>
                    <a:pt x="0" y="0"/>
                  </a:moveTo>
                  <a:lnTo>
                    <a:pt x="7366000" y="0"/>
                  </a:lnTo>
                  <a:lnTo>
                    <a:pt x="7366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24B4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366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14400" y="1123950"/>
            <a:ext cx="114300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sign test per pixel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8250" y="2486025"/>
            <a:ext cx="8572500" cy="4197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plot(x₀, y₀)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dx = x₁ − x₀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dy = y₁ − y₀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 = 2·dy − dx</a:t>
            </a:r>
          </a:p>
          <a:p>
            <a:pPr algn="l">
              <a:lnSpc>
                <a:spcPts val="2556"/>
              </a:lnSpc>
            </a:pPr>
            <a:endParaRPr lang="en-US" sz="1800">
              <a:solidFill>
                <a:srgbClr val="F4F8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repeat dx − 1 times: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if p &lt; 0: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x = x + 1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p = p + 2·dy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else: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x = x + 1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y = y + 1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p = p + 2·dy − 2·dx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9500" y="3076575"/>
            <a:ext cx="476250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3750" b="1">
                <a:solidFill>
                  <a:srgbClr val="67D9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 &lt; 0</a:t>
            </a:r>
          </a:p>
          <a:p>
            <a:pPr algn="ctr">
              <a:lnSpc>
                <a:spcPts val="5250"/>
              </a:lnSpc>
            </a:pPr>
            <a:r>
              <a:rPr lang="en-US" sz="3750" b="1">
                <a:solidFill>
                  <a:srgbClr val="67D9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→ EAST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39500" y="5267325"/>
            <a:ext cx="476250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37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 ≥ 0</a:t>
            </a:r>
          </a:p>
          <a:p>
            <a:pPr algn="ctr">
              <a:lnSpc>
                <a:spcPts val="5250"/>
              </a:lnSpc>
            </a:pPr>
            <a:r>
              <a:rPr lang="en-US" sz="3750" b="1">
                <a:solidFill>
                  <a:srgbClr val="20F2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→ NORTH-EAST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028700"/>
            <a:ext cx="8572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(35,40) → (43,45)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1866900"/>
            <a:ext cx="14287500" cy="31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m = 5/8 = 0.625   Δx = 8   Δy = 5   2Δx = 16   2Δy = 10   p₀ = 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9050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28575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38100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47625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57150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66675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76200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85725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95250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4775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1430000" y="2857500"/>
            <a:ext cx="0" cy="619125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952500" y="28575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952500" y="38100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952500" y="47625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952500" y="57150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952500" y="66675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952500" y="76200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952500" y="8572500"/>
            <a:ext cx="10477500" cy="0"/>
          </a:xfrm>
          <a:prstGeom prst="line">
            <a:avLst/>
          </a:prstGeom>
          <a:ln w="9525" cap="flat">
            <a:solidFill>
              <a:srgbClr val="2036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257300" y="8877300"/>
            <a:ext cx="647700" cy="647700"/>
            <a:chOff x="0" y="0"/>
            <a:chExt cx="863600" cy="863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09800" y="7924800"/>
            <a:ext cx="647700" cy="647700"/>
            <a:chOff x="0" y="0"/>
            <a:chExt cx="863600" cy="863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162300" y="7924800"/>
            <a:ext cx="647700" cy="647700"/>
            <a:chOff x="0" y="0"/>
            <a:chExt cx="863600" cy="863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114800" y="6972300"/>
            <a:ext cx="647700" cy="647700"/>
            <a:chOff x="0" y="0"/>
            <a:chExt cx="863600" cy="863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067300" y="6019800"/>
            <a:ext cx="647700" cy="647700"/>
            <a:chOff x="0" y="0"/>
            <a:chExt cx="863600" cy="863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19800" y="6019800"/>
            <a:ext cx="647700" cy="647700"/>
            <a:chOff x="0" y="0"/>
            <a:chExt cx="863600" cy="863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972300" y="5067300"/>
            <a:ext cx="647700" cy="647700"/>
            <a:chOff x="0" y="0"/>
            <a:chExt cx="863600" cy="863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924800" y="5067300"/>
            <a:ext cx="647700" cy="647700"/>
            <a:chOff x="0" y="0"/>
            <a:chExt cx="863600" cy="863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77300" y="4114800"/>
            <a:ext cx="647700" cy="647700"/>
            <a:chOff x="0" y="0"/>
            <a:chExt cx="863600" cy="8636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FFCF66"/>
            </a:solidFill>
            <a:ln cap="sq">
              <a:noFill/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863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57300" y="90201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209800" y="80676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−4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162300" y="80676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114800" y="71151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067300" y="61626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−6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19800" y="61626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72300" y="52101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−2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924800" y="5210175"/>
            <a:ext cx="6477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07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8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2096750" y="2762250"/>
            <a:ext cx="5238750" cy="5429250"/>
            <a:chOff x="0" y="0"/>
            <a:chExt cx="6985000" cy="72390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985000" cy="7239000"/>
            </a:xfrm>
            <a:custGeom>
              <a:avLst/>
              <a:gdLst/>
              <a:ahLst/>
              <a:cxnLst/>
              <a:rect l="l" t="t" r="r" b="b"/>
              <a:pathLst>
                <a:path w="6985000" h="7239000">
                  <a:moveTo>
                    <a:pt x="0" y="0"/>
                  </a:moveTo>
                  <a:lnTo>
                    <a:pt x="6985000" y="0"/>
                  </a:lnTo>
                  <a:lnTo>
                    <a:pt x="6985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9850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2573000" y="3105150"/>
            <a:ext cx="4762500" cy="257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(35,40)  p=2   → (36,41)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p=−4      -&gt; (37,41)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p=6       -&gt; (38,42)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p=0       -&gt; (39,43)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p=−6      -&gt; (40,43)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p=4       -&gt; (41,44)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p=−2      -&gt; (42,44)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p=8       -&gt; (43,45)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19050"/>
            <a:chOff x="0" y="0"/>
            <a:chExt cx="219456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49700" y="419100"/>
            <a:ext cx="133350" cy="133350"/>
            <a:chOff x="0" y="0"/>
            <a:chExt cx="177800" cy="177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0F2C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25991" y="2780242"/>
            <a:ext cx="10624016" cy="6478058"/>
            <a:chOff x="0" y="0"/>
            <a:chExt cx="10414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14000" cy="6350000"/>
            </a:xfrm>
            <a:custGeom>
              <a:avLst/>
              <a:gdLst/>
              <a:ahLst/>
              <a:cxnLst/>
              <a:rect l="l" t="t" r="r" b="b"/>
              <a:pathLst>
                <a:path w="10414000" h="6350000">
                  <a:moveTo>
                    <a:pt x="0" y="0"/>
                  </a:moveTo>
                  <a:lnTo>
                    <a:pt x="10414000" y="0"/>
                  </a:lnTo>
                  <a:lnTo>
                    <a:pt x="10414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414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1123950"/>
            <a:ext cx="123825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4F8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Now rasterize it yourself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73797" y="3509984"/>
            <a:ext cx="9069282" cy="262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448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glBegin(GL_POINTS);</a:t>
            </a:r>
          </a:p>
          <a:p>
            <a:pPr algn="l">
              <a:lnSpc>
                <a:spcPts val="3476"/>
              </a:lnSpc>
            </a:pPr>
            <a:endParaRPr lang="en-US" sz="2448">
              <a:solidFill>
                <a:srgbClr val="F4F8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3476"/>
              </a:lnSpc>
            </a:pPr>
            <a:r>
              <a:rPr lang="en-US" sz="2448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// TODO: Bresenham loop</a:t>
            </a:r>
          </a:p>
          <a:p>
            <a:pPr algn="l">
              <a:lnSpc>
                <a:spcPts val="3476"/>
              </a:lnSpc>
            </a:pPr>
            <a:r>
              <a:rPr lang="en-US" sz="2448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// plot with glVertex2i(x, y)</a:t>
            </a:r>
          </a:p>
          <a:p>
            <a:pPr algn="l">
              <a:lnSpc>
                <a:spcPts val="3476"/>
              </a:lnSpc>
            </a:pPr>
            <a:endParaRPr lang="en-US" sz="2448">
              <a:solidFill>
                <a:srgbClr val="F4F8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3476"/>
              </a:lnSpc>
            </a:pPr>
            <a:r>
              <a:rPr lang="en-US" sz="2448">
                <a:solidFill>
                  <a:srgbClr val="F4F8FB"/>
                </a:solidFill>
                <a:latin typeface="IBM Plex Mono"/>
                <a:ea typeface="IBM Plex Mono"/>
                <a:cs typeface="IBM Plex Mono"/>
                <a:sym typeface="IBM Plex Mono"/>
              </a:rPr>
              <a:t>glEnd();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073797" y="8351372"/>
            <a:ext cx="621894" cy="621894"/>
            <a:chOff x="0" y="0"/>
            <a:chExt cx="60960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93312" y="7444444"/>
            <a:ext cx="621894" cy="621894"/>
            <a:chOff x="0" y="0"/>
            <a:chExt cx="609600" cy="6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12826" y="6537515"/>
            <a:ext cx="621894" cy="621894"/>
            <a:chOff x="0" y="0"/>
            <a:chExt cx="609600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32341" y="8351372"/>
            <a:ext cx="621894" cy="621894"/>
            <a:chOff x="0" y="0"/>
            <a:chExt cx="609600" cy="6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51856" y="7444444"/>
            <a:ext cx="621894" cy="621894"/>
            <a:chOff x="0" y="0"/>
            <a:chExt cx="609600" cy="609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0364D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71370" y="6537515"/>
            <a:ext cx="621894" cy="621894"/>
            <a:chOff x="0" y="0"/>
            <a:chExt cx="609600" cy="609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52B43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1411</Words>
  <Application>Microsoft Office PowerPoint</Application>
  <PresentationFormat>Custom</PresentationFormat>
  <Paragraphs>277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IBM Plex Mono Bold</vt:lpstr>
      <vt:lpstr>Arial</vt:lpstr>
      <vt:lpstr>Akzidenz-Grotesk</vt:lpstr>
      <vt:lpstr>Calibri</vt:lpstr>
      <vt:lpstr>Akzidenz-Grotesk Bold</vt:lpstr>
      <vt:lpstr>Open Sauce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 Raster Lab</dc:title>
  <cp:lastModifiedBy>Abd El-Rahman Mostafa</cp:lastModifiedBy>
  <cp:revision>3</cp:revision>
  <dcterms:created xsi:type="dcterms:W3CDTF">2006-08-16T00:00:00Z</dcterms:created>
  <dcterms:modified xsi:type="dcterms:W3CDTF">2026-09-27T07:29:55Z</dcterms:modified>
  <dc:identifier>DAHWTtDS6F4</dc:identifier>
</cp:coreProperties>
</file>