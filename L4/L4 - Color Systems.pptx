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203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4 lab. Builds on Lab 3 (global variables, init2D, display, primitives, circles, text). Today: how OpenGL handles color, additive vs subtractive mixing, and converting between RGB and HSV.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from Lab 3: glClearColor is called once in init2D; glColor3f was used before drawing shapes. Stress that it is a state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slide: The RGB color model. The eight corners of the unit cube are the colors we draw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 is dark gray so that black and white swatches are both visible. printSome from Lab 3 writes the label under each square. Full file: swatches.cpp.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GL_SMOOTH is the default; GL_FLAT would use a single color per primitive. The quad on the right of the screenshot uses four different corner colors; its code is in gradient.cpp.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DrawCircle is the solid version from Lab 3 (GL_POLYGON). Blending adds the new color to what is already in the frame buffer, exactly like projectors throwing light on the same spot (lecture slide: additive mixture).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Multiplying by the destination models a filter: each ink removes (subtracts) part of the white light. Cyan (0,1,1) times magenta (1,0,1) gives (0,0,1) = blue. The other two circles are drawn the same way with magenta and yellow.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slide: CMY(K) color model and color gamut. In code, the conversion is just 1 minus each component, which is what setColorCMY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slides: HSV (hue-saturation-value). HSV describes color the way people do, which makes it easier to ask for "the same color, but paler". OpenGL still needs RGB, so we convert.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translation of the lecture slide. The (+360) before the modulo keeps the red-dominant branch positive. Make sure you divide the diff by cmax only when cmax is not zero (a black pixel).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example as the lecture. Ask students to print the result of their function and compare with these numbers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translation of the lecture formulas. Output r, g, b are in 0..255, so divide by 255 before calling glColor3f, or use glColor3ub / setColorHSV.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example as the lecture. A good checkpoint: if students get (191, 115, 230) from their function, the conversion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setColorHSV from hsv_utils.h (it calls hsvToRGB, then glColor3f(r/255, g/255, b/255)). The screenshot also shows a saturation/value grid for hue 280 (DrawSVGrid) and a complementary pair at the bottom, all from wheel.cpp.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hsvToRGB already wraps the hue with fmodf, so h + 180 can exceed 360. Lecture slide: complementary hues. These are the complements on the RGB color wheel, which is not the same wheel as the artist's red-yellow-blue wheel.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a bug that is easy to hit during the tasks. Ask students to keep this slide open while they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Warm-up. Expected output is the screenshot. Solution: task1_gray.cpp.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Combines the additive and subtractive slides. Solution: task2_venn.cpp.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task of the lab. Solution: task3_hsv.cpp together with hsv_utils.h. Each quad is 90 / 360 = 0.25 logical units 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task in the same spirit as the stop sign and welcome scenes from Lab 3. Colors are suggestions: students can pick their own, for example in HSV. Solution: task4_sunset.cpp.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for students who finish early. glutKeyboardFunc is new in this lab. Note that hue can become negative after pressing A, which hsvToRGB handles.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3121422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1054100" y="1564580"/>
            <a:ext cx="103251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3121422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1054100" y="1564580"/>
            <a:ext cx="103251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ttern of overlapping white rings on a blue background"/>
          <p:cNvPicPr>
            <a:picLocks noChangeAspect="1"/>
          </p:cNvPicPr>
          <p:nvPr/>
        </p:nvPicPr>
        <p:blipFill>
          <a:blip r:embed="rId3"/>
          <a:srcRect t="-25" b="-25"/>
          <a:stretch/>
        </p:blipFill>
        <p:spPr>
          <a:xfrm>
            <a:off x="0" y="0"/>
            <a:ext cx="12192000" cy="393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2800" y="4851499"/>
            <a:ext cx="38100" cy="1193701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1104900" y="4851499"/>
            <a:ext cx="8332946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Computer Graphics (4)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104900" y="5654080"/>
            <a:ext cx="715244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Lab 4 · Color Systems: RGB, CMY and HSV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176403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33141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80" y="1615380"/>
            <a:ext cx="203882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Color in OpenGL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0" y="1633141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17680" y="1615380"/>
            <a:ext cx="176141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RGB cube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1953121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80" y="1935361"/>
            <a:ext cx="188654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Color swatches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0" y="1953121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7680" y="1935361"/>
            <a:ext cx="200286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Smooth shading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2273102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80" y="2255341"/>
            <a:ext cx="2731413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Additive mixing (RGB)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0" y="2273102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7680" y="2255341"/>
            <a:ext cx="311812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Subtractive mixing (CMY)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2800" y="2593082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80" y="2575322"/>
            <a:ext cx="194571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HSV model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96000" y="2593082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7680" y="2575322"/>
            <a:ext cx="151828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RGB to HSV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2800" y="2913063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80" y="2895302"/>
            <a:ext cx="151828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HSV to RGB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96000" y="2913063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7680" y="2895302"/>
            <a:ext cx="148828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Color wheel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12800" y="3233043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80" y="3215283"/>
            <a:ext cx="3163133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Complements and pitfalls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096000" y="3233043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17680" y="3215283"/>
            <a:ext cx="116478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Lab tasks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375130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Color in OpenGL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621730"/>
            <a:ext cx="5334000" cy="2387600"/>
          </a:xfrm>
          <a:prstGeom prst="roundRect">
            <a:avLst>
              <a:gd name="adj" fmla="val 3989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1882080"/>
            <a:ext cx="495769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background color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9500" y="2205930"/>
            <a:ext cx="495769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glClearColor(0.0, 0.0, 1.0, 1.0);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9500" y="2529780"/>
            <a:ext cx="495769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current drawing color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9500" y="2853630"/>
            <a:ext cx="495769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glColor3f(1.0, 0.0, 0.0);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9500" y="3177480"/>
            <a:ext cx="495769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the same red, as bytes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9500" y="3501330"/>
            <a:ext cx="4957699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glColor3ub(255, 0, 0);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65900" y="1615380"/>
            <a:ext cx="495769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Each component is a </a:t>
            </a:r>
            <a:r>
              <a:rPr lang="en-US" sz="17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float from 0.0 to 1.0</a:t>
            </a:r>
            <a:r>
              <a:rPr lang="en-US" sz="17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(or a byte from 0 to 255 with the </a:t>
            </a:r>
            <a:r>
              <a:rPr lang="en-US" sz="17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ub</a:t>
            </a:r>
            <a:r>
              <a:rPr lang="en-US" sz="17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version).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65900" y="2397621"/>
            <a:ext cx="4957699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Values outside the range are </a:t>
            </a:r>
            <a:r>
              <a:rPr lang="en-US" sz="17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clamped</a:t>
            </a:r>
            <a:r>
              <a:rPr lang="en-US" sz="17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glColor3f(255, 0, 0) is just red, not "255 times red".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65900" y="3482082"/>
            <a:ext cx="495769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color is a </a:t>
            </a:r>
            <a:r>
              <a:rPr lang="en-US" sz="17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state</a:t>
            </a:r>
            <a:r>
              <a:rPr lang="en-US" sz="17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every vertex after glColor uses it until you change it.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3211949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RGB cube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280"/>
          <a:ext cx="5448300" cy="3953169"/>
        </p:xfrm>
        <a:graphic>
          <a:graphicData uri="http://schemas.openxmlformats.org/drawingml/2006/table">
            <a:tbl>
              <a:tblPr/>
              <a:tblGrid>
                <a:gridCol w="2179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Corner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Black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Red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Green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Blue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Yellow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Cyan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Magenta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White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781800" y="1564580"/>
            <a:ext cx="4597400" cy="2875161"/>
          </a:xfrm>
          <a:prstGeom prst="roundRect">
            <a:avLst>
              <a:gd name="adj" fmla="val 3534"/>
            </a:avLst>
          </a:prstGeom>
          <a:solidFill>
            <a:srgbClr val="E8F2F7"/>
          </a:solidFill>
          <a:ln/>
        </p:spPr>
      </p:sp>
      <p:sp>
        <p:nvSpPr>
          <p:cNvPr id="6" name="Text 3"/>
          <p:cNvSpPr/>
          <p:nvPr/>
        </p:nvSpPr>
        <p:spPr>
          <a:xfrm>
            <a:off x="7061200" y="1843980"/>
            <a:ext cx="415975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Grays live on the diagonal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061200" y="2301180"/>
            <a:ext cx="4159758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When </a:t>
            </a:r>
            <a:r>
              <a:rPr lang="en-US" sz="16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 = G = B</a:t>
            </a: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the color has no hue: it is a gray level between black (0, 0, 0) and white (1, 1, 1).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61200" y="3306961"/>
            <a:ext cx="4159758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Mixing light is </a:t>
            </a:r>
            <a:r>
              <a:rPr lang="en-US" sz="16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additive</a:t>
            </a: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adding all three primaries gives white, and no light at all gives black.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200" dirty="0"/>
          </a:p>
        </p:txBody>
      </p:sp>
      <p:pic>
        <p:nvPicPr>
          <p:cNvPr id="10" name="Image 0" descr="image.png"/>
          <p:cNvPicPr>
            <a:picLocks noChangeAspect="1"/>
          </p:cNvPicPr>
          <p:nvPr/>
        </p:nvPicPr>
        <p:blipFill>
          <a:blip r:embed="rId3"/>
          <a:srcRect l="350" r="350"/>
          <a:stretch/>
        </p:blipFill>
        <p:spPr>
          <a:xfrm>
            <a:off x="6909941" y="4439146"/>
            <a:ext cx="3678734" cy="24188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346555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Color swatches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9150" y="1520130"/>
            <a:ext cx="6388100" cy="3990975"/>
          </a:xfrm>
          <a:prstGeom prst="roundRect">
            <a:avLst>
              <a:gd name="adj" fmla="val 2387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  <p:txBody>
          <a:bodyPr wrap="none" lIns="207052" tIns="181652" rIns="29506" bIns="156252" rtlCol="0" anchor="t">
            <a:no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colors[8][3] = {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{0,0,0}, {1,0,0}, {0,1,0}, {0,0,1},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{1,1,0}, {0,1,1}, {1,0,1}, {1,1,1}};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0; i &lt; 8; i++) {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float x = 8 + (i % 4) * 22;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float y = 55 - (i / 4) * 35;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glColor3f(colors[i][0], colors[i][1], colors[i][2]);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glBegin(GL_QUADS);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glVertex2f(x, y);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glVertex2f(x, y + 18);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glVertex2f(x + 18, y + 18);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glVertex2f(x + 18, y);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glEnd();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pic>
        <p:nvPicPr>
          <p:cNvPr id="5" name="Image 0" descr="Eight colored squares in two rows: black, red, green, blue, yellow, cyan, magenta, whit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1900" y="1526480"/>
            <a:ext cx="3784600" cy="3784600"/>
          </a:xfrm>
          <a:prstGeom prst="roundRect">
            <a:avLst>
              <a:gd name="adj" fmla="val 1007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575550" y="1520130"/>
            <a:ext cx="3797300" cy="3797300"/>
          </a:xfrm>
          <a:prstGeom prst="roundRect">
            <a:avLst>
              <a:gd name="adj" fmla="val 1171"/>
            </a:avLst>
          </a:prstGeom>
          <a:noFill/>
          <a:ln w="12700">
            <a:solidFill>
              <a:srgbClr val="D5E3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13544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3685937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Smooth shading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9150" y="1486694"/>
            <a:ext cx="6388100" cy="3990975"/>
          </a:xfrm>
          <a:prstGeom prst="roundRect">
            <a:avLst>
              <a:gd name="adj" fmla="val 2387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  <p:txBody>
          <a:bodyPr wrap="none" lIns="207052" tIns="181652" rIns="29506" bIns="156252" rtlCol="0" anchor="t">
            <a:no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in init2D(): colors blend between vertices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glShadeModel(GL_SMOOTH);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glBegin(GL_TRIANGLES);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glColor3f(1, 0, 0);</a:t>
            </a: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glVertex2i(10, 40);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glColor3f(0, 1, 0);</a:t>
            </a: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glVertex2i(45, 40);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glColor3f(0, 0, 1);</a:t>
            </a: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glVertex2i(27, 90);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glEnd();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glBegin(GL_QUADS);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glColor3f(0, 0, 0);</a:t>
            </a: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glVertex2i(10, 10);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      glVertex2i(10, 25);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glColor3f(1, 1, 1);</a:t>
            </a: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glVertex2i(90, 25);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      glVertex2i(90, 10);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glEnd();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661819"/>
            <a:ext cx="65928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color set before a vertex belongs to that vertex. OpenGL </a:t>
            </a:r>
            <a:r>
              <a:rPr lang="en-US" sz="15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interpolates</a:t>
            </a: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in between.</a:t>
            </a:r>
            <a:endParaRPr lang="en-US" sz="1500" dirty="0"/>
          </a:p>
        </p:txBody>
      </p:sp>
      <p:pic>
        <p:nvPicPr>
          <p:cNvPr id="6" name="Image 0" descr="A red, green and blue gradient triangle, a four-color gradient quad and a black to white gray ramp on a black window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1900" y="1493044"/>
            <a:ext cx="3784600" cy="3784600"/>
          </a:xfrm>
          <a:prstGeom prst="roundRect">
            <a:avLst>
              <a:gd name="adj" fmla="val 1007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575550" y="1486694"/>
            <a:ext cx="3797300" cy="3797300"/>
          </a:xfrm>
          <a:prstGeom prst="roundRect">
            <a:avLst>
              <a:gd name="adj" fmla="val 1171"/>
            </a:avLst>
          </a:prstGeom>
          <a:noFill/>
          <a:ln w="12700">
            <a:solidFill>
              <a:srgbClr val="D5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505968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Additive mixing (RGB)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9150" y="1520130"/>
            <a:ext cx="6388100" cy="2562225"/>
          </a:xfrm>
          <a:prstGeom prst="roundRect">
            <a:avLst>
              <a:gd name="adj" fmla="val 3717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  <p:txBody>
          <a:bodyPr wrap="none" lIns="207052" tIns="181652" rIns="29506" bIns="156252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init2D(): start from black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glClearColor(0, 0, 0, 1);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glEnable(GL_BLEND);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glBlendFunc(GL_ONE, GL_ONE);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result = source + destination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glColor3f(1, 0, 0); DrawCircle(40, 58, 22, 100);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glColor3f(0, 1, 0); DrawCircle(60, 58, 22, 100);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glColor3f(0, 0, 1); DrawCircle(50, 40, 22, 100);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4266505"/>
            <a:ext cx="65928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 + G = </a:t>
            </a:r>
            <a:r>
              <a:rPr lang="en-US" sz="15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yellow</a:t>
            </a: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· G + B = </a:t>
            </a:r>
            <a:r>
              <a:rPr lang="en-US" sz="15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cyan</a:t>
            </a: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· R + B = </a:t>
            </a:r>
            <a:r>
              <a:rPr lang="en-US" sz="15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magenta</a:t>
            </a: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· R + G + B = </a:t>
            </a:r>
            <a:r>
              <a:rPr lang="en-US" sz="15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white</a:t>
            </a:r>
            <a:endParaRPr lang="en-US" sz="1500" dirty="0"/>
          </a:p>
        </p:txBody>
      </p:sp>
      <p:pic>
        <p:nvPicPr>
          <p:cNvPr id="6" name="Image 0" descr="Red, green and blue overlapping circles on black; overlaps are yellow, cyan, magenta and white in the cent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1900" y="1526480"/>
            <a:ext cx="3784600" cy="3784600"/>
          </a:xfrm>
          <a:prstGeom prst="roundRect">
            <a:avLst>
              <a:gd name="adj" fmla="val 1007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575550" y="1520130"/>
            <a:ext cx="3797300" cy="3797300"/>
          </a:xfrm>
          <a:prstGeom prst="roundRect">
            <a:avLst>
              <a:gd name="adj" fmla="val 1171"/>
            </a:avLst>
          </a:prstGeom>
          <a:noFill/>
          <a:ln w="12700">
            <a:solidFill>
              <a:srgbClr val="D5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5786438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Subtractive mixing (CMY)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9150" y="1520130"/>
            <a:ext cx="6388100" cy="32766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  <p:txBody>
          <a:bodyPr wrap="none" lIns="207052" tIns="181652" rIns="29506" bIns="156252" rtlCol="0" anchor="t">
            <a:no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OpenGL only knows RGB: R = 1 - C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setColorCMY(float c, float m, float y) {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glColor3f(1.0 - c, 1.0 - m, 1.0 - y);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init2D(): ink on WHITE paper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glClearColor(1, 1, 1, 1);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glEnable(GL_BLEND);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glBlendFunc(GL_DST_COLOR, GL_ZERO);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result = source * destination</a:t>
            </a: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endParaRPr lang="en-US" sz="140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setColorCMY(1, 0, 0); DrawCircle(40, 58, 22, 100);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4980880"/>
            <a:ext cx="65928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 + M = </a:t>
            </a:r>
            <a:r>
              <a:rPr lang="en-US" sz="15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blue</a:t>
            </a: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· M + Y = </a:t>
            </a:r>
            <a:r>
              <a:rPr lang="en-US" sz="15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red</a:t>
            </a: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· C + Y = </a:t>
            </a:r>
            <a:r>
              <a:rPr lang="en-US" sz="15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green</a:t>
            </a: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· C + M + Y = </a:t>
            </a:r>
            <a:r>
              <a:rPr lang="en-US" sz="15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black</a:t>
            </a:r>
            <a:endParaRPr lang="en-US" sz="1500" dirty="0"/>
          </a:p>
        </p:txBody>
      </p:sp>
      <p:pic>
        <p:nvPicPr>
          <p:cNvPr id="6" name="Image 0" descr="Cyan, magenta and yellow overlapping circles on white; overlaps are blue, red, green and black in the cent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1900" y="1526480"/>
            <a:ext cx="3784600" cy="3784600"/>
          </a:xfrm>
          <a:prstGeom prst="roundRect">
            <a:avLst>
              <a:gd name="adj" fmla="val 1007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575550" y="1520130"/>
            <a:ext cx="3797300" cy="3797300"/>
          </a:xfrm>
          <a:prstGeom prst="roundRect">
            <a:avLst>
              <a:gd name="adj" fmla="val 1171"/>
            </a:avLst>
          </a:prstGeom>
          <a:noFill/>
          <a:ln w="12700">
            <a:solidFill>
              <a:srgbClr val="D5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348698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CMY = 1 − RGB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280"/>
          <a:ext cx="5702300" cy="3074687"/>
        </p:xfrm>
        <a:graphic>
          <a:graphicData uri="http://schemas.openxmlformats.org/drawingml/2006/table">
            <a:tbl>
              <a:tblPr/>
              <a:tblGrid>
                <a:gridCol w="1596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Color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RGB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CMY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Red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(1, 0, 0)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(0, 1, 1)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Green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(0, 1, 0)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(1, 0, 1)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Blue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(0, 0, 1)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(1, 1, 0)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White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(1, 1, 1)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(0, 0, 0)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Black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(0, 0, 0)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(1, 1, 1)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Gray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(0.5, 0.5, 0.5)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(0.5, 0.5, 0.5)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85000" y="1564580"/>
            <a:ext cx="4394200" cy="3312021"/>
          </a:xfrm>
          <a:prstGeom prst="roundRect">
            <a:avLst>
              <a:gd name="adj" fmla="val 3068"/>
            </a:avLst>
          </a:prstGeom>
          <a:solidFill>
            <a:srgbClr val="E8F2F7"/>
          </a:solidFill>
          <a:ln/>
        </p:spPr>
      </p:sp>
      <p:sp>
        <p:nvSpPr>
          <p:cNvPr id="6" name="Text 3"/>
          <p:cNvSpPr/>
          <p:nvPr/>
        </p:nvSpPr>
        <p:spPr>
          <a:xfrm>
            <a:off x="7264400" y="1843980"/>
            <a:ext cx="395046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Light versus ink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264400" y="2301180"/>
            <a:ext cx="395046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RGB</a:t>
            </a: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adds light to black: screens, key color white.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64400" y="3022501"/>
            <a:ext cx="395046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CMY(K)</a:t>
            </a: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removes light from white: printers, key color black.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64400" y="3743821"/>
            <a:ext cx="395046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RGB gamut is larger than CMYK, so some screen colors lose vibrancy when printed.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3563064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HSV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564580"/>
            <a:ext cx="3352800" cy="2077641"/>
          </a:xfrm>
          <a:prstGeom prst="roundRect">
            <a:avLst>
              <a:gd name="adj" fmla="val 4890"/>
            </a:avLst>
          </a:prstGeom>
          <a:solidFill>
            <a:srgbClr val="E8F2F7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818580"/>
            <a:ext cx="293014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6800" y="2255441"/>
            <a:ext cx="29301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0° – 360°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66800" y="2854821"/>
            <a:ext cx="293014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kind of color: red 0°, green 120°, blue 240°.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9600" y="1564580"/>
            <a:ext cx="3352800" cy="2077641"/>
          </a:xfrm>
          <a:prstGeom prst="roundRect">
            <a:avLst>
              <a:gd name="adj" fmla="val 4890"/>
            </a:avLst>
          </a:prstGeom>
          <a:solidFill>
            <a:srgbClr val="E8F2F7"/>
          </a:solidFill>
          <a:ln/>
        </p:spPr>
      </p:sp>
      <p:sp>
        <p:nvSpPr>
          <p:cNvPr id="9" name="Text 7"/>
          <p:cNvSpPr/>
          <p:nvPr/>
        </p:nvSpPr>
        <p:spPr>
          <a:xfrm>
            <a:off x="4673600" y="1818580"/>
            <a:ext cx="293014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Saturation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73600" y="2255441"/>
            <a:ext cx="29301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 – 100%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73600" y="2854821"/>
            <a:ext cx="293014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Colorfulness: 0 is gray, 100 is the purest color.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26400" y="1564580"/>
            <a:ext cx="3352800" cy="2077641"/>
          </a:xfrm>
          <a:prstGeom prst="roundRect">
            <a:avLst>
              <a:gd name="adj" fmla="val 4890"/>
            </a:avLst>
          </a:prstGeom>
          <a:solidFill>
            <a:srgbClr val="E8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8280400" y="1818580"/>
            <a:ext cx="293014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Value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80400" y="2255441"/>
            <a:ext cx="293014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 – 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80400" y="2854821"/>
            <a:ext cx="293014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Brightness: 0 is black, 100 is the brightest.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3947021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Red = (0°, 100%, 100%) · Green = (120°, 100%, 100%) · Blue = (240°, 100%, 100%) · Gray = (0°, 0%, 50%)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2781776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RGB to HSV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9150" y="1520130"/>
            <a:ext cx="6718300" cy="4076700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  <p:txBody>
          <a:bodyPr wrap="none" lIns="207052" tIns="181652" rIns="19600" bIns="15625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rgbToHSV(float r, float g, float b,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float &amp;h, float &amp;s, float &amp;v)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r /= 255.0; g /= 255.0; b /= 255.0;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float cmax = fmaxf(r, fmaxf(g, b));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float cmin = fminf(r, fminf(g, b));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float diff = cmax - cmin;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 (diff == 0)       h = 0;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else if (cmax == r)  h = fmodf(60 * ((g - b) / diff) + 360, 360);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else if (cmax == g)  h = fmodf(60 * ((b - r) / diff) + 120, 360);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else                 h = fmodf(60 * ((r - g) / diff) + 240, 360);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 = (cmax == 0) ? 0 : (diff / cmax) * 100;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v = cmax * 100;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97800" y="1513780"/>
            <a:ext cx="3581400" cy="3302992"/>
          </a:xfrm>
          <a:prstGeom prst="roundRect">
            <a:avLst>
              <a:gd name="adj" fmla="val 3076"/>
            </a:avLst>
          </a:prstGeom>
          <a:solidFill>
            <a:srgbClr val="E8F2F7"/>
          </a:solidFill>
          <a:ln/>
        </p:spPr>
      </p:sp>
      <p:sp>
        <p:nvSpPr>
          <p:cNvPr id="6" name="Text 4"/>
          <p:cNvSpPr/>
          <p:nvPr/>
        </p:nvSpPr>
        <p:spPr>
          <a:xfrm>
            <a:off x="8026400" y="1742380"/>
            <a:ext cx="321792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Five steps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26400" y="2130921"/>
            <a:ext cx="321792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Divide r, g, b by 255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26400" y="2485231"/>
            <a:ext cx="321792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Find </a:t>
            </a:r>
            <a:r>
              <a:rPr lang="en-US" sz="1400" dirty="0" err="1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cmax</a:t>
            </a: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400" dirty="0" err="1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cmin</a:t>
            </a: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and diff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26400" y="2839541"/>
            <a:ext cx="321792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Hue depends on which channel is the maximum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26400" y="3433862"/>
            <a:ext cx="321792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Saturation = diff / cmax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26400" y="3788172"/>
            <a:ext cx="321792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Value = cmax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26400" y="4142482"/>
            <a:ext cx="321792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 in degrees, s and v in percent, as in the lecture.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11</a:t>
            </a:r>
            <a:endParaRPr lang="en-US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D9205D2-8AC1-1A21-6507-2D704D2B3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39" y="5661639"/>
            <a:ext cx="4737804" cy="11532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C7C714E-3D8C-3267-BF51-ED577833B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469" y="5234955"/>
            <a:ext cx="3949169" cy="68603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8BC2733-1018-6A70-BE5D-E84F3A94A4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659" y="6087106"/>
            <a:ext cx="2019475" cy="54106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95CE2A1-9437-60A0-CDA2-22C8476358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9977" y="2907530"/>
            <a:ext cx="2171888" cy="1851820"/>
          </a:xfrm>
          <a:prstGeom prst="rect">
            <a:avLst/>
          </a:prstGeom>
        </p:spPr>
      </p:pic>
      <p:sp>
        <p:nvSpPr>
          <p:cNvPr id="36" name="Text 5">
            <a:extLst>
              <a:ext uri="{FF2B5EF4-FFF2-40B4-BE49-F238E27FC236}">
                <a16:creationId xmlns:a16="http://schemas.microsoft.com/office/drawing/2014/main" id="{68B634C9-A613-90E3-98EA-6EF1601F3664}"/>
              </a:ext>
            </a:extLst>
          </p:cNvPr>
          <p:cNvSpPr/>
          <p:nvPr/>
        </p:nvSpPr>
        <p:spPr>
          <a:xfrm>
            <a:off x="5509977" y="2626568"/>
            <a:ext cx="321792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1 , 2: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C4C93959-2BAA-5247-AE7D-F68D4AFE2D76}"/>
              </a:ext>
            </a:extLst>
          </p:cNvPr>
          <p:cNvSpPr/>
          <p:nvPr/>
        </p:nvSpPr>
        <p:spPr>
          <a:xfrm>
            <a:off x="171625" y="5396204"/>
            <a:ext cx="321792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3: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227B5D37-F3E0-4512-730F-02C09ACF739B}"/>
              </a:ext>
            </a:extLst>
          </p:cNvPr>
          <p:cNvSpPr/>
          <p:nvPr/>
        </p:nvSpPr>
        <p:spPr>
          <a:xfrm>
            <a:off x="5272469" y="4908933"/>
            <a:ext cx="321792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4: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E1EE3355-2498-4428-3340-F538219AEB37}"/>
              </a:ext>
            </a:extLst>
          </p:cNvPr>
          <p:cNvSpPr/>
          <p:nvPr/>
        </p:nvSpPr>
        <p:spPr>
          <a:xfrm>
            <a:off x="6417437" y="6378608"/>
            <a:ext cx="321792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 5:</a:t>
            </a:r>
            <a:endParaRPr lang="en-US" sz="1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657832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Example: (45, 215, 0) to HSV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51880"/>
          <a:ext cx="10553700" cy="2476500"/>
        </p:xfrm>
        <a:graphic>
          <a:graphicData uri="http://schemas.openxmlformats.org/drawingml/2006/table">
            <a:tbl>
              <a:tblPr/>
              <a:tblGrid>
                <a:gridCol w="274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9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Step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Result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 Divide by 255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R' = 0.17647 · G' = 0.84313 · B' = 0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 Max, min, diff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cmax = G' = 0.84313 · cmin = 0 · diff = 0.84313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 Hue (cmax is G')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60 × ((0 − 0.17647) / 0.84313) + 120 = 107.44°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 Saturation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0.84313 / 0.84313 × 100 = 100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5 Value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0.84313 × 100 = 84.31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307780"/>
            <a:ext cx="10566400" cy="965200"/>
          </a:xfrm>
          <a:prstGeom prst="roundRect">
            <a:avLst>
              <a:gd name="adj" fmla="val 10526"/>
            </a:avLst>
          </a:prstGeom>
          <a:solidFill>
            <a:srgbClr val="E8F2F7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4510980"/>
            <a:ext cx="10360152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rgbToHSV(45, 215, 0, h, s, v);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66800" y="4822130"/>
            <a:ext cx="10360152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h = 107.44, s = 100.00, v = 84.31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2781776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HSV to RGB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9150" y="1520130"/>
            <a:ext cx="6173278" cy="4525070"/>
          </a:xfrm>
          <a:prstGeom prst="roundRect">
            <a:avLst>
              <a:gd name="adj" fmla="val 2212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  <p:txBody>
          <a:bodyPr wrap="none" lIns="207052" tIns="181652" rIns="31030" bIns="15625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hsvToRGB(float h, float s, float v,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float &amp;r, float &amp;g, float &amp;b)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h = fmodf(h, 360);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 if (h &lt; 0)       h += 360;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 /= 100.0; v /= 100.0;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float C = v * s;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float X = C * (1 - fabsf(fmodf(h / 60.0, 2) - 1));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float m = v - C;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float r1, g1, b1;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      (h &lt; 60)      { r1 = C; g1 = X; b1 = 0; }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else if (h &lt; 120) { r1 = X; g1 = C; b1 = 0; }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else if (h &lt; 180) { r1 = 0; g1 = C; b1 = X; }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else if (h &lt; 240) { r1 = 0; g1 = X; b1 = C; }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else if (h &lt; 300) { r1 = X; g1 = 0; b1 = C; }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else                 { r1 = C; g1 = 0; b1 = X; }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r = (r1 + m) * 255; g = (g1 + m) * 255; b = (b1 + m) * 255;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16800" y="1513780"/>
            <a:ext cx="3962400" cy="2628702"/>
          </a:xfrm>
          <a:prstGeom prst="roundRect">
            <a:avLst>
              <a:gd name="adj" fmla="val 3865"/>
            </a:avLst>
          </a:prstGeom>
          <a:solidFill>
            <a:srgbClr val="E8F2F7"/>
          </a:solidFill>
          <a:ln/>
        </p:spPr>
      </p:sp>
      <p:sp>
        <p:nvSpPr>
          <p:cNvPr id="6" name="Text 4"/>
          <p:cNvSpPr/>
          <p:nvPr/>
        </p:nvSpPr>
        <p:spPr>
          <a:xfrm>
            <a:off x="7645400" y="1742380"/>
            <a:ext cx="361035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What the letters mean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45400" y="2130921"/>
            <a:ext cx="37338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</a:t>
            </a: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the chroma: how far the color is from gray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45400" y="2485231"/>
            <a:ext cx="361035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</a:t>
            </a: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the second largest component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45400" y="2839541"/>
            <a:ext cx="361035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</a:t>
            </a: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the amount added to every channel to match the value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45400" y="3433862"/>
            <a:ext cx="361035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Each 60° sector of the hue circle puts C, X and 0 into a different channel.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13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AC3DA8-7ADC-41E9-D2DC-25C1876B4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00" y="4231382"/>
            <a:ext cx="2574474" cy="23713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79463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Example: (280°, 50%, 90%) to RGB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26480"/>
          <a:ext cx="10553700" cy="2889250"/>
        </p:xfrm>
        <a:graphic>
          <a:graphicData uri="http://schemas.openxmlformats.org/drawingml/2006/table">
            <a:tbl>
              <a:tblPr/>
              <a:tblGrid>
                <a:gridCol w="316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7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Step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Result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 Normalize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 = 0.5 · V = 0.9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 Chroma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 = V × S = 0.45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 Second component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X = 0.45 × (1 − |(280 / 60) % 2 − 1|) = 0.30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 Offset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 = V − C = 0.45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5 Sector 240° to 300°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(R', G', B') = (X, 0, C) = (0.30, 0, 0.45)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6 Add m, scale by 255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(R, G, B) = (191, 115, 230)</a:t>
                      </a:r>
                      <a:endParaRPr lang="en-US" sz="15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669730"/>
            <a:ext cx="10566400" cy="889000"/>
          </a:xfrm>
          <a:prstGeom prst="roundRect">
            <a:avLst>
              <a:gd name="adj" fmla="val 11429"/>
            </a:avLst>
          </a:prstGeom>
          <a:solidFill>
            <a:srgbClr val="E8F2F7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4847530"/>
            <a:ext cx="10360152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hsvToRGB(280, 50, 90, r, g, b);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66800" y="5133280"/>
            <a:ext cx="10360152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r = 191, g = 115, b = 230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5591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2737366" cy="470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Color wheel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9150" y="1518741"/>
            <a:ext cx="6388100" cy="36195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  <p:txBody>
          <a:bodyPr wrap="none" lIns="207052" tIns="181652" rIns="29506" bIns="15625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DrawColorWheel(float cx, float cy, float r) {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glBegin(GL_TRIANGLES);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for (int i = 0; i &lt; 360; i++) {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float a0 = 2 * 3.1415926f * i / 360;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float a1 = 2 * 3.1415926f * (i + 1) / 360;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setColorHSV(i, 0, 100);</a:t>
            </a:r>
            <a:r>
              <a:rPr lang="en-US" sz="14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// center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glVertex2f(cx, cy);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setColorHSV(i, 100, 100);</a:t>
            </a:r>
            <a:r>
              <a:rPr lang="en-US" sz="14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// edge 1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glVertex2f(cx + r * cosf(a0), cy + r * sinf(a0));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 err="1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setColorHSV</a:t>
            </a: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400" dirty="0" err="1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</a:t>
            </a:r>
            <a:r>
              <a:rPr lang="en-US" sz="14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+ 1, 100, 100); </a:t>
            </a:r>
            <a:r>
              <a:rPr lang="en-US" sz="1400" dirty="0">
                <a:solidFill>
                  <a:schemeClr val="accent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edge 2</a:t>
            </a:r>
            <a:endParaRPr lang="en-US" sz="1400" dirty="0">
              <a:solidFill>
                <a:schemeClr val="accent2"/>
              </a:solidFill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glVertex2f(cx + r * cosf(a1), cy + r * sinf(a1));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glEnd();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322391"/>
            <a:ext cx="65928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360 thin triangles: </a:t>
            </a:r>
            <a:r>
              <a:rPr lang="en-US" sz="15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hue</a:t>
            </a: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is the angle, </a:t>
            </a:r>
            <a:r>
              <a:rPr lang="en-US" sz="15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saturation</a:t>
            </a: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grows from the center to the edge.</a:t>
            </a:r>
            <a:endParaRPr lang="en-US" sz="1500" dirty="0"/>
          </a:p>
        </p:txBody>
      </p:sp>
      <p:pic>
        <p:nvPicPr>
          <p:cNvPr id="6" name="Image 0" descr="An HSV color wheel, a saturation and value grid for hue 280, and a pair of complementary squares in purple and gree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1900" y="1525091"/>
            <a:ext cx="3784600" cy="3784600"/>
          </a:xfrm>
          <a:prstGeom prst="roundRect">
            <a:avLst>
              <a:gd name="adj" fmla="val 1007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575550" y="1518741"/>
            <a:ext cx="3797300" cy="3797300"/>
          </a:xfrm>
          <a:prstGeom prst="roundRect">
            <a:avLst>
              <a:gd name="adj" fmla="val 1171"/>
            </a:avLst>
          </a:prstGeom>
          <a:noFill/>
          <a:ln w="12700">
            <a:solidFill>
              <a:srgbClr val="D5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512504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Complementary colors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280"/>
          <a:ext cx="5448300" cy="2196205"/>
        </p:xfrm>
        <a:graphic>
          <a:graphicData uri="http://schemas.openxmlformats.org/drawingml/2006/table">
            <a:tbl>
              <a:tblPr/>
              <a:tblGrid>
                <a:gridCol w="272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Hue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Complement (H + 180°)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Red 0°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Cyan 180°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Yellow 60°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Blue 240°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Green 120°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Magenta 300°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Purple 280°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3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Green 100°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37350" y="1570930"/>
            <a:ext cx="46355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  <p:txBody>
          <a:bodyPr wrap="none" lIns="207052" tIns="181652" rIns="82084" bIns="156252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setColorHSV(h, 100, 100);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DrawSwatch(10, 10, 20, 20);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setColorHSV(h + 180, 100, 100);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DrawSwatch(35, 10, 20, 20);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731000" y="3164780"/>
            <a:ext cx="478764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Side by side they give the </a:t>
            </a:r>
            <a:r>
              <a:rPr lang="en-US" sz="1500" b="1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strongest contrast</a:t>
            </a: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Mixed together they cancel to gray.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374011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Common pitfalls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564580"/>
            <a:ext cx="3386634" cy="1461691"/>
          </a:xfrm>
          <a:prstGeom prst="roundRect">
            <a:avLst>
              <a:gd name="adj" fmla="val 6951"/>
            </a:avLst>
          </a:prstGeom>
          <a:solidFill>
            <a:srgbClr val="E8F2F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67780"/>
            <a:ext cx="306964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Integer division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16000" y="2103041"/>
            <a:ext cx="306964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 / 7 is 0 for every i below 7. Write i / 7.0 to get a gray ramp.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634" y="1564580"/>
            <a:ext cx="3386634" cy="1461691"/>
          </a:xfrm>
          <a:prstGeom prst="roundRect">
            <a:avLst>
              <a:gd name="adj" fmla="val 6951"/>
            </a:avLst>
          </a:prstGeom>
          <a:solidFill>
            <a:srgbClr val="E8F2F7"/>
          </a:solidFill>
          <a:ln/>
        </p:spPr>
      </p:sp>
      <p:sp>
        <p:nvSpPr>
          <p:cNvPr id="8" name="Text 6"/>
          <p:cNvSpPr/>
          <p:nvPr/>
        </p:nvSpPr>
        <p:spPr>
          <a:xfrm>
            <a:off x="4605834" y="1767780"/>
            <a:ext cx="306964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Wrong scale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05834" y="2103041"/>
            <a:ext cx="306964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glColor3f wants 0 to 1. Our HSV code returns 0 to 255, so divide by 255.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2467" y="1564580"/>
            <a:ext cx="3386634" cy="1461691"/>
          </a:xfrm>
          <a:prstGeom prst="roundRect">
            <a:avLst>
              <a:gd name="adj" fmla="val 6951"/>
            </a:avLst>
          </a:prstGeom>
          <a:solidFill>
            <a:srgbClr val="E8F2F7"/>
          </a:solidFill>
          <a:ln/>
        </p:spPr>
      </p:sp>
      <p:sp>
        <p:nvSpPr>
          <p:cNvPr id="11" name="Text 9"/>
          <p:cNvSpPr/>
          <p:nvPr/>
        </p:nvSpPr>
        <p:spPr>
          <a:xfrm>
            <a:off x="8195667" y="1767780"/>
            <a:ext cx="306964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Blending left 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95667" y="2103041"/>
            <a:ext cx="306964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Text and opaque shapes look wrong. Call glDisable(GL_BLEND) when you are done.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229471"/>
            <a:ext cx="3386634" cy="1461691"/>
          </a:xfrm>
          <a:prstGeom prst="roundRect">
            <a:avLst>
              <a:gd name="adj" fmla="val 6951"/>
            </a:avLst>
          </a:prstGeom>
          <a:solidFill>
            <a:srgbClr val="E8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432671"/>
            <a:ext cx="306964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Background order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16000" y="3767931"/>
            <a:ext cx="306964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Draw backgrounds first, with blending off, then the blended circles.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02634" y="3229471"/>
            <a:ext cx="3386634" cy="1461691"/>
          </a:xfrm>
          <a:prstGeom prst="roundRect">
            <a:avLst>
              <a:gd name="adj" fmla="val 6951"/>
            </a:avLst>
          </a:prstGeom>
          <a:solidFill>
            <a:srgbClr val="E8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4605834" y="3432671"/>
            <a:ext cx="306964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Hue out of range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05834" y="3767931"/>
            <a:ext cx="306964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 + 180 can pass 360. Wrap it with fmodf and fix negative values.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92467" y="3229471"/>
            <a:ext cx="3386634" cy="1461691"/>
          </a:xfrm>
          <a:prstGeom prst="roundRect">
            <a:avLst>
              <a:gd name="adj" fmla="val 6951"/>
            </a:avLst>
          </a:prstGeom>
          <a:solidFill>
            <a:srgbClr val="E8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8195667" y="3432671"/>
            <a:ext cx="306964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Divide by zero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95667" y="3767931"/>
            <a:ext cx="306964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Gray and black pixels have diff = 0 or cmax = 0. Check before dividing.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4083844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Task 1: Gray ramp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6808" y="1513780"/>
            <a:ext cx="6782816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992" indent="-1899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Draw 8 squares from black to white with a for loop.</a:t>
            </a:r>
            <a:endParaRPr lang="en-US" sz="1600" dirty="0"/>
          </a:p>
          <a:p>
            <a:pPr marL="189992" indent="-1899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 gray = i / 7.0 and glColor3f(gray, gray, gray).</a:t>
            </a:r>
            <a:endParaRPr lang="en-US" sz="1600" dirty="0"/>
          </a:p>
          <a:p>
            <a:pPr marL="189992" indent="-1899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Print each gray value under its square with printSome.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600722"/>
            <a:ext cx="6654800" cy="1163141"/>
          </a:xfrm>
          <a:prstGeom prst="roundRect">
            <a:avLst>
              <a:gd name="adj" fmla="val 8735"/>
            </a:avLst>
          </a:prstGeom>
          <a:solidFill>
            <a:srgbClr val="E8F2F7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803922"/>
            <a:ext cx="638352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1400" y="3062982"/>
            <a:ext cx="638352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 = G = B means you are walking along the main diagonal of the RGB cube. Use sprintf to turn the number into text.</a:t>
            </a:r>
            <a:endParaRPr lang="en-US" sz="1400" dirty="0"/>
          </a:p>
        </p:txBody>
      </p:sp>
      <p:pic>
        <p:nvPicPr>
          <p:cNvPr id="8" name="Image 0" descr="Eight gray squares from black to white with their values printed underneath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35900" y="1526480"/>
            <a:ext cx="3530600" cy="3530600"/>
          </a:xfrm>
          <a:prstGeom prst="roundRect">
            <a:avLst>
              <a:gd name="adj" fmla="val 1079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7829550" y="1520130"/>
            <a:ext cx="3543300" cy="3543300"/>
          </a:xfrm>
          <a:prstGeom prst="roundRect">
            <a:avLst>
              <a:gd name="adj" fmla="val 1254"/>
            </a:avLst>
          </a:prstGeom>
          <a:noFill/>
          <a:ln w="12700">
            <a:solidFill>
              <a:srgbClr val="D5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527137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Task 2: Light versus ink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6808" y="1513780"/>
            <a:ext cx="6782816" cy="149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992" indent="-1899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Left half: black background with red, green and blue circles added together.</a:t>
            </a:r>
            <a:endParaRPr lang="en-US" sz="1600" dirty="0"/>
          </a:p>
          <a:p>
            <a:pPr marL="189992" indent="-1899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Right half: white background with cyan, magenta and yellow circles multiplied.</a:t>
            </a:r>
            <a:endParaRPr lang="en-US" sz="1600" dirty="0"/>
          </a:p>
          <a:p>
            <a:pPr marL="189992" indent="-1899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Label each half.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3189883"/>
            <a:ext cx="6654800" cy="1163141"/>
          </a:xfrm>
          <a:prstGeom prst="roundRect">
            <a:avLst>
              <a:gd name="adj" fmla="val 8735"/>
            </a:avLst>
          </a:prstGeom>
          <a:solidFill>
            <a:srgbClr val="E8F2F7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3393083"/>
            <a:ext cx="638352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1400" y="3652143"/>
            <a:ext cx="638352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Draw both backgrounds with blending disabled, then enable it and switch glBlendFunc between the two halves.</a:t>
            </a:r>
            <a:endParaRPr lang="en-US" sz="1400" dirty="0"/>
          </a:p>
        </p:txBody>
      </p:sp>
      <p:pic>
        <p:nvPicPr>
          <p:cNvPr id="8" name="Image 0" descr="Left half black with additive red, green and blue circles; right half white with subtractive cyan, magenta and yellow circle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35900" y="1526480"/>
            <a:ext cx="3530600" cy="3530600"/>
          </a:xfrm>
          <a:prstGeom prst="roundRect">
            <a:avLst>
              <a:gd name="adj" fmla="val 1079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7829550" y="1520130"/>
            <a:ext cx="3543300" cy="3543300"/>
          </a:xfrm>
          <a:prstGeom prst="roundRect">
            <a:avLst>
              <a:gd name="adj" fmla="val 1254"/>
            </a:avLst>
          </a:prstGeom>
          <a:noFill/>
          <a:ln w="12700">
            <a:solidFill>
              <a:srgbClr val="D5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4134564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Task 3: HSV strips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6808" y="1513780"/>
            <a:ext cx="6782816" cy="149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992" indent="-1899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Write rgbToHSV and hsvToRGB and check them with the two worked examples.</a:t>
            </a:r>
            <a:endParaRPr lang="en-US" sz="1600" dirty="0"/>
          </a:p>
          <a:p>
            <a:pPr marL="189992" indent="-1899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Draw three strips of 360 thin quads: hue 0 to 360, saturation 0 to 100 and value 0 to 100.</a:t>
            </a:r>
            <a:endParaRPr lang="en-US" sz="1600" dirty="0"/>
          </a:p>
          <a:p>
            <a:pPr marL="189992" indent="-1899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 H = 280 for the last two strips and label each strip.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3189883"/>
            <a:ext cx="6654800" cy="1163141"/>
          </a:xfrm>
          <a:prstGeom prst="roundRect">
            <a:avLst>
              <a:gd name="adj" fmla="val 8735"/>
            </a:avLst>
          </a:prstGeom>
          <a:solidFill>
            <a:srgbClr val="E8F2F7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3393083"/>
            <a:ext cx="638352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1400" y="3652143"/>
            <a:ext cx="638352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Make a helper setColorHSV(h, s, v) that calls hsvToRGB and then glColor3f(r / 255, g / 255, b / 255).</a:t>
            </a:r>
            <a:endParaRPr lang="en-US" sz="1400" dirty="0"/>
          </a:p>
        </p:txBody>
      </p:sp>
      <p:pic>
        <p:nvPicPr>
          <p:cNvPr id="8" name="Image 0" descr="Three horizontal color strips: a rainbow of hues, a white to purple saturation strip and a black to purple value stri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35900" y="1526480"/>
            <a:ext cx="3530600" cy="3530600"/>
          </a:xfrm>
          <a:prstGeom prst="roundRect">
            <a:avLst>
              <a:gd name="adj" fmla="val 1079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7829550" y="1520130"/>
            <a:ext cx="3543300" cy="3543300"/>
          </a:xfrm>
          <a:prstGeom prst="roundRect">
            <a:avLst>
              <a:gd name="adj" fmla="val 1254"/>
            </a:avLst>
          </a:prstGeom>
          <a:noFill/>
          <a:ln w="12700">
            <a:solidFill>
              <a:srgbClr val="D5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468082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Task 4: Sunset scene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3920" y="1513780"/>
            <a:ext cx="6775704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Sky: a quad that is dark blue at the top and orange at the horizon.</a:t>
            </a:r>
            <a:endParaRPr lang="en-US" sz="1500" dirty="0"/>
          </a:p>
          <a:p>
            <a:pPr marL="182880" indent="-1828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Sun: a warm yellow circle, half hidden by the ground.</a:t>
            </a:r>
            <a:endParaRPr lang="en-US" sz="1500" dirty="0"/>
          </a:p>
          <a:p>
            <a:pPr marL="182880" indent="-1828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Two mountains: triangles that are lighter at the peak.</a:t>
            </a:r>
            <a:endParaRPr lang="en-US" sz="1500" dirty="0"/>
          </a:p>
          <a:p>
            <a:pPr marL="182880" indent="-1828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Ground: a quad from dark green to almost black. Write "Sunset" with printSome.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3098105"/>
            <a:ext cx="6654800" cy="1163141"/>
          </a:xfrm>
          <a:prstGeom prst="roundRect">
            <a:avLst>
              <a:gd name="adj" fmla="val 8735"/>
            </a:avLst>
          </a:prstGeom>
          <a:solidFill>
            <a:srgbClr val="E8F2F7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3301305"/>
            <a:ext cx="638352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1400" y="3560366"/>
            <a:ext cx="638352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Draw back to front: sky, sun, mountains, ground. Per-vertex colors give you the gradients.</a:t>
            </a:r>
            <a:endParaRPr lang="en-US" sz="1400" dirty="0"/>
          </a:p>
        </p:txBody>
      </p:sp>
      <p:pic>
        <p:nvPicPr>
          <p:cNvPr id="8" name="Image 0" descr="A sunset scene with a blue to orange gradient sky, a yellow sun on the horizon, two purple mountains and a dark green groun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35900" y="1526480"/>
            <a:ext cx="3530600" cy="3530600"/>
          </a:xfrm>
          <a:prstGeom prst="roundRect">
            <a:avLst>
              <a:gd name="adj" fmla="val 1079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7829550" y="1520130"/>
            <a:ext cx="3543300" cy="3543300"/>
          </a:xfrm>
          <a:prstGeom prst="roundRect">
            <a:avLst>
              <a:gd name="adj" fmla="val 1254"/>
            </a:avLst>
          </a:prstGeom>
          <a:noFill/>
          <a:ln w="12700">
            <a:solidFill>
              <a:srgbClr val="D5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4875848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Bonus: rotate the hue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6808" y="1513780"/>
            <a:ext cx="5474716" cy="1203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992" indent="-1899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Draw a circle in the current hue and a square in its complement.</a:t>
            </a:r>
            <a:endParaRPr lang="en-US" sz="1600" dirty="0"/>
          </a:p>
          <a:p>
            <a:pPr marL="189992" indent="-1899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Press D to add 10° to the hue and A to subtract 10°.</a:t>
            </a:r>
            <a:endParaRPr lang="en-US" sz="1600" dirty="0"/>
          </a:p>
          <a:p>
            <a:pPr marL="189992" indent="-1899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Print the current hue on screen.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895302"/>
            <a:ext cx="554634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Your display function is called again every time you call glutPostRedisplay.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59550" y="1520130"/>
            <a:ext cx="4813300" cy="2933700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  <p:txBody>
          <a:bodyPr wrap="none" lIns="207052" tIns="181652" rIns="76750" bIns="15625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hue = 0;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keyboard(unsigned char key, int x, int y)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 (key == 'd') hue += 10;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 (key == 'a') hue -= 10;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342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glutPostRedisplay();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in main(), before glutMainLoop():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glutKeyboardFunc(keyboard);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38100" cy="446980"/>
          </a:xfrm>
          <a:prstGeom prst="rect">
            <a:avLst/>
          </a:prstGeom>
          <a:solidFill>
            <a:srgbClr val="1783AB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54100" y="812800"/>
            <a:ext cx="1635681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A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Thanks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5645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783A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73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 Graphics Lab 4 - Color Systems">
  <a:themeElements>
    <a:clrScheme name="Computer Graphics Lab 4 - Color Systems">
      <a:dk1>
        <a:srgbClr val="1B2A33"/>
      </a:dk1>
      <a:lt1>
        <a:srgbClr val="F7FAFB"/>
      </a:lt1>
      <a:dk2>
        <a:srgbClr val="525E65"/>
      </a:dk2>
      <a:lt2>
        <a:srgbClr val="E1E5E7"/>
      </a:lt2>
      <a:accent1>
        <a:srgbClr val="1783AB"/>
      </a:accent1>
      <a:accent2>
        <a:srgbClr val="5F7380"/>
      </a:accent2>
      <a:accent3>
        <a:srgbClr val="9AA0A6"/>
      </a:accent3>
      <a:accent4>
        <a:srgbClr val="737D83"/>
      </a:accent4>
      <a:accent5>
        <a:srgbClr val="949CA1"/>
      </a:accent5>
      <a:accent6>
        <a:srgbClr val="B5BCBF"/>
      </a:accent6>
      <a:hlink>
        <a:srgbClr val="0563C1"/>
      </a:hlink>
      <a:folHlink>
        <a:srgbClr val="954F72"/>
      </a:folHlink>
    </a:clrScheme>
    <a:fontScheme name="Computer Graphics Lab 4 - Color Systems">
      <a:majorFont>
        <a:latin typeface="Nuni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3418</Words>
  <Application>Microsoft Office PowerPoint</Application>
  <PresentationFormat>Widescreen</PresentationFormat>
  <Paragraphs>410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JetBrains Mono</vt:lpstr>
      <vt:lpstr>Nunito Sans</vt:lpstr>
      <vt:lpstr>Computer Graphics Lab 4 - Color Systems</vt:lpstr>
      <vt:lpstr>Computer Graphics (4)</vt:lpstr>
      <vt:lpstr>Agenda</vt:lpstr>
      <vt:lpstr>Color in OpenGL</vt:lpstr>
      <vt:lpstr>The RGB cube</vt:lpstr>
      <vt:lpstr>Color swatches</vt:lpstr>
      <vt:lpstr>Smooth shading</vt:lpstr>
      <vt:lpstr>Additive mixing (RGB)</vt:lpstr>
      <vt:lpstr>Subtractive mixing (CMY)</vt:lpstr>
      <vt:lpstr>CMY = 1 − RGB</vt:lpstr>
      <vt:lpstr>The HSV model</vt:lpstr>
      <vt:lpstr>RGB to HSV</vt:lpstr>
      <vt:lpstr>Example: (45, 215, 0) to HSV</vt:lpstr>
      <vt:lpstr>HSV to RGB</vt:lpstr>
      <vt:lpstr>Example: (280°, 50%, 90%) to RGB</vt:lpstr>
      <vt:lpstr>Color wheel</vt:lpstr>
      <vt:lpstr>Complementary colors</vt:lpstr>
      <vt:lpstr>Common pitfalls</vt:lpstr>
      <vt:lpstr>Task 1: Gray ramp</vt:lpstr>
      <vt:lpstr>Task 2: Light versus ink</vt:lpstr>
      <vt:lpstr>Task 3: HSV strips</vt:lpstr>
      <vt:lpstr>Task 4: Sunset scene</vt:lpstr>
      <vt:lpstr>Bonus: rotate the hue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 Lab 4 - Color Systems</dc:title>
  <dc:subject/>
  <dc:creator/>
  <cp:lastModifiedBy>Abd El-Rahman Mostafa</cp:lastModifiedBy>
  <cp:revision>4</cp:revision>
  <dcterms:created xsi:type="dcterms:W3CDTF">2026-10-10T08:29:50Z</dcterms:created>
  <dcterms:modified xsi:type="dcterms:W3CDTF">2026-10-10T09:48:20Z</dcterms:modified>
</cp:coreProperties>
</file>